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24271E"/>
                </a:solidFill>
                <a:latin typeface="Libre Caslon Display"/>
              </a:defRPr>
            </a:pPr>
            <a:r>
              <a:t>Supervised, Unsupervised &amp;</a:t>
            </a:r>
            <a:br/>
            <a:r>
              <a:t>Reinforcement Learning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787B6E"/>
                </a:solidFill>
                <a:latin typeface="Libre Caslon Display"/>
              </a:defRPr>
            </a:pPr>
            <a:r>
              <a:t>Beyond the obvious: industry use cases that matter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24271E"/>
                </a:solidFill>
                <a:latin typeface="Libre Caslon Display"/>
              </a:defRPr>
            </a:pPr>
            <a:r>
              <a:t>Three Core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787B6E"/>
                </a:solidFill>
                <a:latin typeface="Libre Caslon Display"/>
              </a:defRPr>
            </a:pPr>
            <a:r>
              <a:t>How we learn from data (labeled, unlabeled, and interactive)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Supervised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Labelled data → predict y from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E8ECD9"/>
                </a:solidFill>
                <a:latin typeface="Libre Caslon Display"/>
              </a:defRPr>
            </a:pPr>
            <a:r>
              <a:t>Image classification, fraud detection, diagnostic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10312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Unsupervised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Discover structure without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E8ECD9"/>
                </a:solidFill>
                <a:latin typeface="Libre Caslon Display"/>
              </a:defRPr>
            </a:pPr>
            <a:r>
              <a:t>Clustering, dimensionality reduction, anomaly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10312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Reinforcement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Learn from reward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743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E8ECD9"/>
                </a:solidFill>
                <a:latin typeface="Libre Caslon Display"/>
              </a:defRPr>
            </a:pPr>
            <a:r>
              <a:t>Robotics, game AI, resource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24271E"/>
                </a:solidFill>
                <a:latin typeface="Libre Caslon Display"/>
              </a:defRPr>
            </a:pPr>
            <a:r>
              <a:t>Supervised Learning: 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Excluding the ubiquitous spam 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Semiconductor Floorplanning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Placement cost minimization across billion-transistor designs using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Diagnostic Prediction from Imaging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Labeled MRI/CT volumes → disease risk scores for early intervention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Demand Forecasting with Exogenous Variables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Retail price elasticity + weather + calendar features → optimized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24271E"/>
                </a:solidFill>
                <a:latin typeface="Libre Caslon Display"/>
              </a:defRPr>
            </a:pPr>
            <a:r>
              <a:t>Unsupervised Learning: 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Discovering structure where no labels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Molecular Retrosynthesis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Cluster pathways from failed synthesis experiments → predict viable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Seismic Fault Detection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Unlabeled geophone arrays → identify fault line anomalies via density estimation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Customer Segment Discovery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Behavioral clustering from transaction logs → micro-segments for hyper-targeted 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24271E"/>
                </a:solidFill>
                <a:latin typeface="Libre Caslon Display"/>
              </a:defRPr>
            </a:pPr>
            <a:r>
              <a:t>Reinforcement Learning: 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Learning optimal policies through reward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Automated Portfolio Rebalancing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MDP policy → trade execution minimizing transaction costs + market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Warehouse Robot Fleet Coordination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Multi-agent RL → collision-free picking &amp; sorting in dynamic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82880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B542E"/>
                </a:solidFill>
                <a:latin typeface="Libre Caslon Display"/>
              </a:defRPr>
            </a:pPr>
            <a:r>
              <a:t>Industrial Process Optimization</a:t>
            </a:r>
          </a:p>
          <a:p>
            <a:pPr>
              <a:spcBef>
                <a:spcPts val="1200"/>
              </a:spcBef>
              <a:defRPr sz="1600">
                <a:solidFill>
                  <a:srgbClr val="787B6E"/>
                </a:solidFill>
                <a:latin typeface="DM Sans"/>
              </a:defRPr>
            </a:pPr>
            <a:r>
              <a:t>Continuous control → reduce energy consumption in HVAC/manufacturing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24271E"/>
                </a:solidFill>
                <a:latin typeface="Libre Caslon Display"/>
              </a:defRPr>
            </a:pPr>
            <a:r>
              <a:t>Hybrid Pipelines: Stitching the Three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From raw data → curated features → model selection → policy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>
              <a:spcAft>
                <a:spcPts val="1600"/>
              </a:spcAft>
              <a:defRPr sz="2400" b="1">
                <a:solidFill>
                  <a:srgbClr val="24271E"/>
                </a:solidFill>
                <a:latin typeface="Libre Caslon Display"/>
              </a:defRPr>
            </a:pPr>
            <a:r>
              <a:t>Supervised → Feature Engineering → Unsupervised Discovery → RL Policy Deployment</a:t>
            </a:r>
          </a:p>
          <a:p>
            <a:pPr>
              <a:spcBef>
                <a:spcPts val="2400"/>
              </a:spcBef>
              <a:defRPr sz="1800">
                <a:solidFill>
                  <a:srgbClr val="787B6E"/>
                </a:solidFill>
              </a:defRPr>
            </a:pPr>
            <a:r>
              <a:t>Example: Labeled defect images → cluster defect types → RL agent selects optimal remediation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24271E"/>
                </a:solidFill>
                <a:latin typeface="Libre Caslon Display"/>
              </a:defRPr>
            </a:pPr>
            <a:r>
              <a:t>Typical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From data collection to deployed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4271E"/>
                </a:solidFill>
                <a:latin typeface="Libre Caslon Display"/>
              </a:defRPr>
            </a:pPr>
            <a:r>
              <a:t>Data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Collect raw signals, logs, sensor readings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4271E"/>
                </a:solidFill>
                <a:latin typeface="Libre Caslon Display"/>
              </a:defRPr>
            </a:pPr>
            <a:r>
              <a:t>Feature 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65176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Label a subset, engineer features, reduce dimensionality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4271E"/>
                </a:solidFill>
                <a:latin typeface="Libre Caslon Display"/>
              </a:defRPr>
            </a:pPr>
            <a:r>
              <a:t>Model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47472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Supervised baselines → unsupervised clusters → RL policy prototyping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4271E"/>
                </a:solidFill>
                <a:latin typeface="Libre Caslon Display"/>
              </a:defRPr>
            </a:pPr>
            <a: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29768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Cross-validation, silhouette scores, reward horizon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4271E"/>
                </a:solidFill>
                <a:latin typeface="Libre Caslon Display"/>
              </a:defRPr>
            </a:pPr>
            <a: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12064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87B6E"/>
                </a:solidFill>
                <a:latin typeface="Libre Caslon Display"/>
              </a:defRPr>
            </a:pPr>
            <a:r>
              <a:t>Deploy best model/policy ← monitor drift, schedule retraining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24271E"/>
                </a:solidFill>
                <a:latin typeface="Libre Caslon Display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787B6E"/>
                </a:solidFill>
                <a:latin typeface="Libre Caslon Display"/>
              </a:defRPr>
            </a:pPr>
            <a:r>
              <a:t>• Start with labelled data you already have → build a supervised baseline</a:t>
            </a:r>
            <a:br/>
            <a:r>
              <a:t>• Use unsupervised clustering to discover hidden patterns in your full dataset</a:t>
            </a:r>
            <a:br/>
            <a:r>
              <a:t>• Progress to RL when you have a reward signal and can simulate or interact with the environment</a:t>
            </a:r>
            <a:br/>
            <a:r>
              <a:t>• Hybrid pipelines are where real ROI lives: stitch paradigms to solve end-to-end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E8ECD9"/>
                </a:solidFill>
                <a:latin typeface="Libre Caslon Display"/>
              </a:defRPr>
            </a:pPr>
            <a:r>
              <a:t>Case studies &amp; datasets available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