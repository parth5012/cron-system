
<file path=[Content_Types].xml><?xml version="1.0" encoding="utf-8"?>
<Types xmlns="http://schemas.openxmlformats.org/package/2006/content-types">
  <Default ContentType="application/vnd.openxmlformats-package.relationships+xml" Extension="rels"/>
  <Default ContentType="application/xml" Extension="xml"/>
  <Default ContentType="image/png" Extension="png"/>
  <Default ContentType="image/jpeg" Extension="jpeg"/>
  <Default ContentType="image/jpeg" Extension="jpg"/>
  <Default ContentType="video/mp4" Extension="mp4"/>
  <Override ContentType="application/vnd.openxmlformats-officedocument.presentationml.presentation.main+xml" PartName="/ppt/presentation.xml"/>
  <Override ContentType="application/vnd.openxmlformats-package.core-properties+xml" PartName="/docProps/core.xml"/>
  <Override ContentType="application/vnd.openxmlformats-officedocument.extended-properties+xml" PartName="/docProps/app.xml"/>
  <Override ContentType="application/vnd.openxmlformats-officedocument.theme+xml" PartName="/ppt/theme/theme1.xml"/>
  <Override ContentType="application/vnd.openxmlformats-officedocument.presentationml.presProps+xml" PartName="/ppt/presProps.xml"/>
  <Override ContentType="application/vnd.openxmlformats-officedocument.presentationml.viewProps+xml" PartName="/ppt/viewProps.xml"/>
  <Override ContentType="application/vnd.openxmlformats-officedocument.presentationml.tableStyles+xml" PartName="/ppt/tableStyles.xml"/>
  <Override ContentType="application/vnd.openxmlformats-officedocument.presentationml.slide+xml" PartName="/ppt/slides/slide1.xml"/>
  <Override ContentType="application/vnd.openxmlformats-officedocument.presentationml.notesSlide+xml" PartName="/ppt/notesSlides/notesSlide1.xml"/>
  <Override ContentType="application/vnd.openxmlformats-officedocument.presentationml.slide+xml" PartName="/ppt/slides/slide2.xml"/>
  <Override ContentType="application/vnd.openxmlformats-officedocument.presentationml.notesSlide+xml" PartName="/ppt/notesSlides/notesSlide2.xml"/>
  <Override ContentType="application/vnd.openxmlformats-officedocument.presentationml.slide+xml" PartName="/ppt/slides/slide3.xml"/>
  <Override ContentType="application/vnd.openxmlformats-officedocument.presentationml.notesSlide+xml" PartName="/ppt/notesSlides/notesSlide3.xml"/>
  <Override ContentType="application/vnd.openxmlformats-officedocument.presentationml.slide+xml" PartName="/ppt/slides/slide4.xml"/>
  <Override ContentType="application/vnd.openxmlformats-officedocument.presentationml.notesSlide+xml" PartName="/ppt/notesSlides/notesSlide4.xml"/>
  <Override ContentType="application/vnd.openxmlformats-officedocument.presentationml.slide+xml" PartName="/ppt/slides/slide5.xml"/>
  <Override ContentType="application/vnd.openxmlformats-officedocument.presentationml.notesSlide+xml" PartName="/ppt/notesSlides/notesSlide5.xml"/>
  <Override ContentType="application/vnd.openxmlformats-officedocument.presentationml.notesMaster+xml" PartName="/ppt/notesMasters/notesMaster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theme+xml" PartName="/ppt/theme/theme2.xml"/>
  <Default Extension="svg" ContentType="image/svg+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Lst>
  <p:sldSz cx="12192000" cy="6858000"/>
  <p:notesSz cx="6858000" cy="9144000"/>
  <p:defaultTextStyle xmlns:a="http://schemas.openxmlformats.org/drawingml/2006/main">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6" autoAdjust="0"/>
    <p:restoredTop sz="94660"/>
  </p:normalViewPr>
  <p:slideViewPr>
    <p:cSldViewPr>
      <p:cViewPr varScale="1">
        <p:scale>
          <a:sx n="90" d="100"/>
          <a:sy n="90" d="100"/>
        </p:scale>
        <p:origin x="120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hf dt="0" hdr="0" ftr="0" sldNum="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Welcome everyone to this session on personal harness engineering and agent multiplayer setups. Today, we will examine how modern developer harnesses and local orchestration frameworks unlock reliable, synchronized cooperation among multiple autonomous agents.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As software engineering problems grow in complexity, single AI models struggle under context window limits and sequential delays. By breaking down engineering tasks across specialized roles such as system architects, focused developers, and quality reviewers, agent swarms unlock massive parallelization and reduce overall error rates significantly.</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This slide outlines the foundational harness architecture and essential security boundaries engineered for autonomous software agents. By enforcing container sandboxing, safe local tool execution, and robust persistent memory vaults, we ensure agentic workflows remain deterministic, strictly bounded, and resilient across complex engineering tasks.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Modern agentic architectures depend on structured orchestration protocols. Event buses efficiently dispatch complex multi-agent subtasks, while shared scratchpads maintain context and alignment without runaway token bloat. In addition, local proxy layers route queries across specialized models to balance speed, cost, and task complexity.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600200"/>
            <a:ext cx="5486400" cy="3086100"/>
          </a:xfrm>
        </p:spPr>
      </p:sp>
      <p:sp>
        <p:nvSpPr>
          <p:cNvPr id="3" name="Notes Placeholder 1"/>
          <p:cNvSpPr>
            <a:spLocks noGrp="1"/>
          </p:cNvSpPr>
          <p:nvPr>
            <p:ph type="body" idx="1"/>
          </p:nvPr>
        </p:nvSpPr>
        <p:spPr>
          <a:xfrm>
            <a:off x="685800" y="4800600"/>
            <a:ext cx="5486400" cy="3600450"/>
          </a:xfrm>
        </p:spPr>
        <p:txBody>
          <a:bodyPr/>
          <a:lstStyle/>
          <a:p>
            <a:r>
              <a:rPr lang="en-US" dirty="0"/>
              <a:t>As agentic systems evolve, we see a distinct shift toward autonomous self-improvement and cross-machine collaboration. Continuous feedback loops incorporate real-time human guidance into shared memory vaults, while decentralized protocols empower independent agents to coordinate and resolve complex workflows reliably.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idx="10" sz="half"/>
          </p:nvPr>
        </p:nvSpPr>
        <p:spPr/>
        <p:txBody>
          <a:bodyPr/>
          <a:lstStyle/>
          <a:p>
            <a:fld id="{5BCAD085-E8A6-8845-BD4E-CB4CCA059FC4}" type="datetimeFigureOut">
              <a:rPr lang="en-US"/>
              <a:t>1/27/13</a:t>
            </a:fld>
            <a:endParaRPr lang="en-US"/>
          </a:p>
        </p:txBody>
      </p:sp>
      <p:sp>
        <p:nvSpPr>
          <p:cNvPr id="3" name="Footer Placeholder 2"/>
          <p:cNvSpPr>
            <a:spLocks noGrp="1"/>
          </p:cNvSpPr>
          <p:nvPr>
            <p:ph type="ftr" idx="11" sz="quarter"/>
          </p:nvPr>
        </p:nvSpPr>
        <p:spPr/>
        <p:txBody>
          <a:bodyPr/>
          <a:lstStyle/>
          <a:p>
            <a:endParaRPr lang="en-US"/>
          </a:p>
        </p:txBody>
      </p:sp>
      <p:sp>
        <p:nvSpPr>
          <p:cNvPr id="4" name="Slide Number Placeholder 3"/>
          <p:cNvSpPr>
            <a:spLocks noGrp="1"/>
          </p:cNvSpPr>
          <p:nvPr>
            <p:ph type="sldNum" idx="12" sz="quarter"/>
          </p:nvPr>
        </p:nvSpPr>
        <p:spPr/>
        <p:txBody>
          <a:bodyPr/>
          <a:lstStyle/>
          <a:p>
            <a:fld id="{C1FF6DA9-008F-8B48-92A6-B652298478BF}"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a:lstStyle/>
          <a:p>
            <a:endParaRPr lang="en-US"/>
          </a:p>
        </p:txBody>
      </p:sp>
      <p:sp>
        <p:nvSpPr>
          <p:cNvPr id="3" name="Text Placeholder 2"/>
          <p:cNvSpPr>
            <a:spLocks noGrp="1"/>
          </p:cNvSpPr>
          <p:nvPr>
            <p:ph type="body" idx="1"/>
          </p:nvPr>
        </p:nvSpPr>
        <p:spPr>
          <a:xfrm>
            <a:off x="838200" y="1825625"/>
            <a:ext cx="10515600" cy="4351338"/>
          </a:xfrm>
          <a:prstGeom prst="rect">
            <a:avLst/>
          </a:prstGeom>
        </p:spPr>
        <p:txBody>
          <a:bodyPr/>
          <a:lstStyle/>
          <a:p>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dt="0" hdr="0" ftr="0" sldNum="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ct val="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indent="-228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image" Target="../media/Presenton_Native_Image_4.png"/><Relationship Id="rId6" Type="http://schemas.openxmlformats.org/officeDocument/2006/relationships/notesSlide" Target="../notesSlides/notesSlide1.xml"/><Relationship Id="rId7" Type="http://schemas.openxmlformats.org/officeDocument/2006/relationships/image" Target="../media/presenton-native-svg-1-1.svg"/><Relationship Id="rId8" Type="http://schemas.openxmlformats.org/officeDocument/2006/relationships/image" Target="../media/presenton-native-svg-2-1.svg"/><Relationship Id="rId9" Type="http://schemas.openxmlformats.org/officeDocument/2006/relationships/image" Target="../media/presenton-native-svg-3-1.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6.png"/><Relationship Id="rId4" Type="http://schemas.openxmlformats.org/officeDocument/2006/relationships/image" Target="../media/Presenton_Native_Image_7.png"/><Relationship Id="rId7" Type="http://schemas.openxmlformats.org/officeDocument/2006/relationships/image" Target="../media/Presenton_Native_Image_10.png"/><Relationship Id="rId9" Type="http://schemas.openxmlformats.org/officeDocument/2006/relationships/notesSlide" Target="../notesSlides/notesSlide2.xml"/><Relationship Id="rId10" Type="http://schemas.openxmlformats.org/officeDocument/2006/relationships/image" Target="../media/presenton-native-svg-4-2.svg"/><Relationship Id="rId11" Type="http://schemas.openxmlformats.org/officeDocument/2006/relationships/image" Target="../media/presenton-native-svg-5-2.svg"/><Relationship Id="rId12" Type="http://schemas.openxmlformats.org/officeDocument/2006/relationships/image" Target="../media/presenton-native-svg-6-2.svg"/><Relationship Id="rId13" Type="http://schemas.openxmlformats.org/officeDocument/2006/relationships/image" Target="../media/presenton-native-svg-7-2.svg"/><Relationship Id="rId14" Type="http://schemas.openxmlformats.org/officeDocument/2006/relationships/image" Target="../media/presenton-native-svg-8-2.svg"/><Relationship Id="rId15" Type="http://schemas.openxmlformats.org/officeDocument/2006/relationships/image" Target="../media/presenton-native-svg-9-2.svg"/><Relationship Id="rId16" Type="http://schemas.openxmlformats.org/officeDocument/2006/relationships/image" Target="../media/presenton-native-svg-10-2.svg"/><Relationship Id="rId17" Type="http://schemas.openxmlformats.org/officeDocument/2006/relationships/image" Target="../media/presenton-native-svg-11-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10.png"/><Relationship Id="rId4" Type="http://schemas.openxmlformats.org/officeDocument/2006/relationships/image" Target="../media/Presenton_Native_Image_19.png"/><Relationship Id="rId5" Type="http://schemas.openxmlformats.org/officeDocument/2006/relationships/image" Target="../media/Presenton_Native_Image_20.png"/><Relationship Id="rId6" Type="http://schemas.openxmlformats.org/officeDocument/2006/relationships/image" Target="../media/Presenton_Native_Image_21.png"/><Relationship Id="rId7" Type="http://schemas.openxmlformats.org/officeDocument/2006/relationships/image" Target="../media/Presenton_Native_Image_22.png"/><Relationship Id="rId12" Type="http://schemas.openxmlformats.org/officeDocument/2006/relationships/notesSlide" Target="../notesSlides/notesSlide3.xml"/><Relationship Id="rId13" Type="http://schemas.openxmlformats.org/officeDocument/2006/relationships/image" Target="../media/presenton-native-svg-12-3.svg"/><Relationship Id="rId14" Type="http://schemas.openxmlformats.org/officeDocument/2006/relationships/image" Target="../media/presenton-native-svg-13-3.svg"/><Relationship Id="rId15" Type="http://schemas.openxmlformats.org/officeDocument/2006/relationships/image" Target="../media/presenton-native-svg-14-3.svg"/><Relationship Id="rId16" Type="http://schemas.openxmlformats.org/officeDocument/2006/relationships/image" Target="../media/presenton-native-svg-15-3.svg"/><Relationship Id="rId17" Type="http://schemas.openxmlformats.org/officeDocument/2006/relationships/image" Target="../media/presenton-native-svg-16-3.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3" Type="http://schemas.openxmlformats.org/officeDocument/2006/relationships/image" Target="../media/Presenton_Native_Image_31.png"/><Relationship Id="rId5" Type="http://schemas.openxmlformats.org/officeDocument/2006/relationships/notesSlide" Target="../notesSlides/notesSlide4.xml"/><Relationship Id="rId6" Type="http://schemas.openxmlformats.org/officeDocument/2006/relationships/image" Target="../media/presenton-native-svg-17-4.svg"/><Relationship Id="rId7" Type="http://schemas.openxmlformats.org/officeDocument/2006/relationships/image" Target="../media/presenton-native-svg-18-4.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5" Type="http://schemas.openxmlformats.org/officeDocument/2006/relationships/notesSlide" Target="../notesSlides/notesSlide5.xml"/><Relationship Id="rId6" Type="http://schemas.openxmlformats.org/officeDocument/2006/relationships/image" Target="../media/presenton-native-svg-19-5.svg"/><Relationship Id="rId7" Type="http://schemas.openxmlformats.org/officeDocument/2006/relationships/image" Target="../media/presenton-native-svg-20-5.svg"/><Relationship Id="rId8" Type="http://schemas.openxmlformats.org/officeDocument/2006/relationships/image" Target="../media/presenton-native-svg-21-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0" name="Presenton Native SVG Image 1" descr=""/>
          <p:cNvPicPr/>
          <p:nvPr/>
        </p:nvPicPr>
        <p:blipFill>
          <a:blip>
            <a:extLst>
              <a:ext uri="{96DAC541-7B7A-43D3-8B79-37D633B846F1}">
                <asvg:svgBlip xmlns:asvg="http://schemas.microsoft.com/office/drawing/2016/SVG/main" r:embed="rId7"/>
              </a:ext>
            </a:extLst>
          </a:blip>
          <a:stretch>
            <a:fillRect/>
          </a:stretch>
        </p:blipFill>
        <p:spPr>
          <a:xfrm>
            <a:off x="0" y="0"/>
            <a:ext cx="12192000" cy="6858000"/>
          </a:xfrm>
          <a:prstGeom prst="rect">
            <a:avLst/>
          </a:prstGeom>
        </p:spPr>
      </p:pic>
      <p:pic>
        <p:nvPicPr>
          <p:cNvPr id="101" name="Presenton Native SVG Image 2" descr=""/>
          <p:cNvPicPr/>
          <p:nvPr/>
        </p:nvPicPr>
        <p:blipFill>
          <a:blip>
            <a:extLst>
              <a:ext uri="{96DAC541-7B7A-43D3-8B79-37D633B846F1}">
                <asvg:svgBlip xmlns:asvg="http://schemas.microsoft.com/office/drawing/2016/SVG/main" r:embed="rId8"/>
              </a:ext>
            </a:extLst>
          </a:blip>
          <a:stretch>
            <a:fillRect/>
          </a:stretch>
        </p:blipFill>
        <p:spPr>
          <a:xfrm>
            <a:off x="838200" y="1981200"/>
            <a:ext cx="4876800" cy="3048000"/>
          </a:xfrm>
          <a:prstGeom prst="rect">
            <a:avLst/>
          </a:prstGeom>
        </p:spPr>
      </p:pic>
      <p:sp>
        <p:nvSpPr>
          <p:cNvPr id="2" name="Shape 2"/>
          <p:cNvSpPr/>
          <p:nvPr/>
        </p:nvSpPr>
        <p:spPr>
          <a:xfrm>
            <a:off x="6400800" y="1552575"/>
            <a:ext cx="5067300" cy="13716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Agent Multiplayer Setups</a:t>
            </a:r>
            <a:endParaRPr lang="en-US"/>
          </a:p>
        </p:txBody>
      </p:sp>
      <p:pic>
        <p:nvPicPr>
          <p:cNvPr id="102" name="Presenton Native SVG Image 3" descr=""/>
          <p:cNvPicPr/>
          <p:nvPr/>
        </p:nvPicPr>
        <p:blipFill>
          <a:blip>
            <a:extLst>
              <a:ext uri="{96DAC541-7B7A-43D3-8B79-37D633B846F1}">
                <asvg:svgBlip xmlns:asvg="http://schemas.microsoft.com/office/drawing/2016/SVG/main" r:embed="rId9"/>
              </a:ext>
            </a:extLst>
          </a:blip>
          <a:stretch>
            <a:fillRect/>
          </a:stretch>
        </p:blipFill>
        <p:spPr>
          <a:xfrm>
            <a:off x="6400800" y="2924175"/>
            <a:ext cx="762000" cy="38100"/>
          </a:xfrm>
          <a:prstGeom prst="rect">
            <a:avLst/>
          </a:prstGeom>
        </p:spPr>
      </p:pic>
      <p:sp>
        <p:nvSpPr>
          <p:cNvPr id="3" name="Shape 3"/>
          <p:cNvSpPr/>
          <p:nvPr/>
        </p:nvSpPr>
        <p:spPr>
          <a:xfrm>
            <a:off x="6400800" y="3190875"/>
            <a:ext cx="5067300" cy="1062633"/>
          </a:xfrm>
          <a:prstGeom prst="rect">
            <a:avLst/>
          </a:prstGeom>
          <a:noFill/>
        </p:spPr>
        <p:txBody>
          <a:bodyPr anchor="t" wrap="square" tIns="0" bIns="0" lIns="0" rIns="0">
            <a:normAutofit/>
          </a:bodyPr>
          <a:lstStyle/>
          <a:p>
            <a:pPr algn="l">
              <a:lnSpc>
                <a:spcPts val="1674"/>
              </a:lnSpc>
              <a:buNone/>
            </a:pPr>
            <a:r>
              <a:rPr sz="1350" b="0" i="0">
                <a:solidFill>
                  <a:srgbClr val="4B5563"/>
                </a:solidFill>
                <a:latin typeface="Poppins"/>
                <a:ea typeface="Poppins"/>
              </a:rPr>
              <a:t xml:space="preserve">Explore modern developer </a:t>
            </a:r>
            <a:r>
              <a:rPr sz="1350" b="1" i="0">
                <a:solidFill>
                  <a:srgbClr val="4B5563"/>
                </a:solidFill>
                <a:latin typeface="Poppins"/>
                <a:ea typeface="Poppins"/>
              </a:rPr>
              <a:t>harnesses</a:t>
            </a:r>
            <a:r>
              <a:rPr sz="1350" b="0" i="0">
                <a:solidFill>
                  <a:srgbClr val="4B5563"/>
                </a:solidFill>
                <a:latin typeface="Poppins"/>
                <a:ea typeface="Poppins"/>
              </a:rPr>
              <a:t xml:space="preserve">, structured </a:t>
            </a:r>
            <a:r>
              <a:rPr sz="1350" b="1" i="0">
                <a:solidFill>
                  <a:srgbClr val="4B5563"/>
                </a:solidFill>
                <a:latin typeface="Poppins"/>
                <a:ea typeface="Poppins"/>
              </a:rPr>
              <a:t>communication protocols</a:t>
            </a:r>
            <a:r>
              <a:rPr sz="1350" b="0" i="0">
                <a:solidFill>
                  <a:srgbClr val="4B5563"/>
                </a:solidFill>
                <a:latin typeface="Poppins"/>
                <a:ea typeface="Poppins"/>
              </a:rPr>
              <a:t xml:space="preserve">, and local </a:t>
            </a:r>
            <a:r>
              <a:rPr sz="1350" b="1" i="0">
                <a:solidFill>
                  <a:srgbClr val="4B5563"/>
                </a:solidFill>
                <a:latin typeface="Poppins"/>
                <a:ea typeface="Poppins"/>
              </a:rPr>
              <a:t>orchestration frameworks</a:t>
            </a:r>
            <a:r>
              <a:rPr sz="1350" b="0" i="0">
                <a:solidFill>
                  <a:srgbClr val="4B5563"/>
                </a:solidFill>
                <a:latin typeface="Poppins"/>
                <a:ea typeface="Poppins"/>
              </a:rPr>
              <a:t xml:space="preserve"> designed to facilitate cooperative multi-agent engineering workflows and high-concurrency developer execution environments.</a:t>
            </a:r>
            <a:endParaRPr lang="en-US"/>
          </a:p>
        </p:txBody>
      </p:sp>
      <p:pic>
        <p:nvPicPr>
          <p:cNvPr id="103" name="Presenton Native Image 4" descr=""/>
          <p:cNvPicPr/>
          <p:nvPr/>
        </p:nvPicPr>
        <p:blipFill>
          <a:blip r:embed="rId5" cstate="none"/>
          <a:stretch>
            <a:fillRect/>
          </a:stretch>
        </p:blipFill>
        <p:spPr>
          <a:xfrm>
            <a:off x="6400800" y="4486275"/>
            <a:ext cx="5029200" cy="9715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04" name="Presenton Native SVG Image 5" descr=""/>
          <p:cNvPicPr/>
          <p:nvPr/>
        </p:nvPicPr>
        <p:blipFill>
          <a:blip>
            <a:extLst>
              <a:ext uri="{96DAC541-7B7A-43D3-8B79-37D633B846F1}">
                <asvg:svgBlip xmlns:asvg="http://schemas.microsoft.com/office/drawing/2016/SVG/main" r:embed="rId10"/>
              </a:ext>
            </a:extLst>
          </a:blip>
          <a:stretch>
            <a:fillRect/>
          </a:stretch>
        </p:blipFill>
        <p:spPr>
          <a:xfrm>
            <a:off x="0" y="0"/>
            <a:ext cx="12192000" cy="6858000"/>
          </a:xfrm>
          <a:prstGeom prst="rect">
            <a:avLst/>
          </a:prstGeom>
        </p:spPr>
      </p:pic>
      <p:pic>
        <p:nvPicPr>
          <p:cNvPr id="105" name="Presenton Native Image 6" descr=""/>
          <p:cNvPicPr/>
          <p:nvPr/>
        </p:nvPicPr>
        <p:blipFill>
          <a:blip r:embed="rId3" cstate="none"/>
          <a:stretch>
            <a:fillRect/>
          </a:stretch>
        </p:blipFill>
        <p:spPr>
          <a:xfrm>
            <a:off x="762000" y="1333500"/>
            <a:ext cx="5029200" cy="5219700"/>
          </a:xfrm>
          <a:prstGeom prst="rect">
            <a:avLst/>
          </a:prstGeom>
        </p:spPr>
      </p:pic>
      <p:pic>
        <p:nvPicPr>
          <p:cNvPr id="106" name="Presenton Native Image 7" descr=""/>
          <p:cNvPicPr/>
          <p:nvPr/>
        </p:nvPicPr>
        <p:blipFill>
          <a:blip r:embed="rId4" cstate="none"/>
          <a:stretch>
            <a:fillRect/>
          </a:stretch>
        </p:blipFill>
        <p:spPr>
          <a:xfrm>
            <a:off x="5257800" y="2095500"/>
            <a:ext cx="228600" cy="228600"/>
          </a:xfrm>
          <a:prstGeom prst="rect">
            <a:avLst/>
          </a:prstGeom>
        </p:spPr>
      </p:pic>
      <p:sp>
        <p:nvSpPr>
          <p:cNvPr id="4" name="Shape 4"/>
          <p:cNvSpPr/>
          <p:nvPr/>
        </p:nvSpPr>
        <p:spPr>
          <a:xfrm>
            <a:off x="762000" y="457200"/>
            <a:ext cx="107061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Scaling with Agent Swarms</a:t>
            </a:r>
            <a:endParaRPr lang="en-US"/>
          </a:p>
        </p:txBody>
      </p:sp>
      <p:pic>
        <p:nvPicPr>
          <p:cNvPr id="107" name="Presenton Native SVG Image 8" descr=""/>
          <p:cNvPicPr/>
          <p:nvPr/>
        </p:nvPicPr>
        <p:blipFill>
          <a:blip>
            <a:extLst>
              <a:ext uri="{96DAC541-7B7A-43D3-8B79-37D633B846F1}">
                <asvg:svgBlip xmlns:asvg="http://schemas.microsoft.com/office/drawing/2016/SVG/main" r:embed="rId11"/>
              </a:ext>
            </a:extLst>
          </a:blip>
          <a:stretch>
            <a:fillRect/>
          </a:stretch>
        </p:blipFill>
        <p:spPr>
          <a:xfrm>
            <a:off x="1143000" y="2419350"/>
            <a:ext cx="4267200" cy="3048000"/>
          </a:xfrm>
          <a:prstGeom prst="rect">
            <a:avLst/>
          </a:prstGeom>
        </p:spPr>
      </p:pic>
      <p:sp>
        <p:nvSpPr>
          <p:cNvPr id="5" name="Shape 5"/>
          <p:cNvSpPr/>
          <p:nvPr/>
        </p:nvSpPr>
        <p:spPr>
          <a:xfrm>
            <a:off x="6400800" y="1368921"/>
            <a:ext cx="5067300" cy="668387"/>
          </a:xfrm>
          <a:prstGeom prst="rect">
            <a:avLst/>
          </a:prstGeom>
          <a:noFill/>
        </p:spPr>
        <p:txBody>
          <a:bodyPr anchor="t" wrap="square" tIns="0" bIns="0" lIns="0" rIns="0">
            <a:normAutofit/>
          </a:bodyPr>
          <a:lstStyle/>
          <a:p>
            <a:pPr algn="l">
              <a:lnSpc>
                <a:spcPts val="1755"/>
              </a:lnSpc>
              <a:buNone/>
            </a:pPr>
            <a:r>
              <a:rPr sz="1350" b="0" i="0">
                <a:solidFill>
                  <a:srgbClr val="4B5563"/>
                </a:solidFill>
                <a:latin typeface="Poppins"/>
                <a:ea typeface="Poppins"/>
              </a:rPr>
              <a:t>Single-agent setups face context exhaustion and rigid bottlenecks when handling complex enterprise software codebases.</a:t>
            </a:r>
            <a:endParaRPr lang="en-US"/>
          </a:p>
        </p:txBody>
      </p:sp>
      <p:pic>
        <p:nvPicPr>
          <p:cNvPr id="108" name="Presenton Native SVG Image 9" descr=""/>
          <p:cNvPicPr/>
          <p:nvPr/>
        </p:nvPicPr>
        <p:blipFill>
          <a:blip>
            <a:extLst>
              <a:ext uri="{96DAC541-7B7A-43D3-8B79-37D633B846F1}">
                <asvg:svgBlip xmlns:asvg="http://schemas.microsoft.com/office/drawing/2016/SVG/main" r:embed="rId12"/>
              </a:ext>
            </a:extLst>
          </a:blip>
          <a:stretch>
            <a:fillRect/>
          </a:stretch>
        </p:blipFill>
        <p:spPr>
          <a:xfrm>
            <a:off x="6400800" y="2511921"/>
            <a:ext cx="457200" cy="457200"/>
          </a:xfrm>
          <a:prstGeom prst="rect">
            <a:avLst/>
          </a:prstGeom>
        </p:spPr>
      </p:pic>
      <p:pic>
        <p:nvPicPr>
          <p:cNvPr id="109" name="Presenton Native Image 10" descr=""/>
          <p:cNvPicPr/>
          <p:nvPr/>
        </p:nvPicPr>
        <p:blipFill>
          <a:blip r:embed="rId7" cstate="none"/>
          <a:stretch>
            <a:fillRect/>
          </a:stretch>
        </p:blipFill>
        <p:spPr>
          <a:xfrm>
            <a:off x="6515100" y="2629049"/>
            <a:ext cx="228600" cy="228600"/>
          </a:xfrm>
          <a:prstGeom prst="rect">
            <a:avLst/>
          </a:prstGeom>
        </p:spPr>
      </p:pic>
      <p:sp>
        <p:nvSpPr>
          <p:cNvPr id="6" name="Shape 6"/>
          <p:cNvSpPr/>
          <p:nvPr/>
        </p:nvSpPr>
        <p:spPr>
          <a:xfrm>
            <a:off x="7010400" y="2511921"/>
            <a:ext cx="44577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Architect Agents</a:t>
            </a:r>
            <a:endParaRPr lang="en-US"/>
          </a:p>
        </p:txBody>
      </p:sp>
      <p:pic>
        <p:nvPicPr>
          <p:cNvPr id="110" name="Presenton Native SVG Image 11" descr=""/>
          <p:cNvPicPr/>
          <p:nvPr/>
        </p:nvPicPr>
        <p:blipFill>
          <a:blip>
            <a:extLst>
              <a:ext uri="{96DAC541-7B7A-43D3-8B79-37D633B846F1}">
                <asvg:svgBlip xmlns:asvg="http://schemas.microsoft.com/office/drawing/2016/SVG/main" r:embed="rId13"/>
              </a:ext>
            </a:extLst>
          </a:blip>
          <a:stretch>
            <a:fillRect/>
          </a:stretch>
        </p:blipFill>
        <p:spPr>
          <a:xfrm>
            <a:off x="7010400" y="2854821"/>
            <a:ext cx="457200" cy="19050"/>
          </a:xfrm>
          <a:prstGeom prst="rect">
            <a:avLst/>
          </a:prstGeom>
        </p:spPr>
      </p:pic>
      <p:sp>
        <p:nvSpPr>
          <p:cNvPr id="7" name="Shape 7"/>
          <p:cNvSpPr/>
          <p:nvPr/>
        </p:nvSpPr>
        <p:spPr>
          <a:xfrm>
            <a:off x="7010400" y="2988171"/>
            <a:ext cx="4457700"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They </a:t>
            </a:r>
            <a:r>
              <a:rPr sz="1200" b="1" i="0">
                <a:solidFill>
                  <a:srgbClr val="4B5563"/>
                </a:solidFill>
                <a:latin typeface="Poppins"/>
                <a:ea typeface="Poppins"/>
              </a:rPr>
              <a:t>decompose</a:t>
            </a:r>
            <a:r>
              <a:rPr sz="1200" b="0" i="0">
                <a:solidFill>
                  <a:srgbClr val="4B5563"/>
                </a:solidFill>
                <a:latin typeface="Poppins"/>
                <a:ea typeface="Poppins"/>
              </a:rPr>
              <a:t xml:space="preserve"> complex goals into structured subtasks, guiding system flow effectively.</a:t>
            </a:r>
            <a:endParaRPr lang="en-US"/>
          </a:p>
        </p:txBody>
      </p:sp>
      <p:pic>
        <p:nvPicPr>
          <p:cNvPr id="111" name="Presenton Native SVG Image 12" descr=""/>
          <p:cNvPicPr/>
          <p:nvPr/>
        </p:nvPicPr>
        <p:blipFill>
          <a:blip>
            <a:extLst>
              <a:ext uri="{96DAC541-7B7A-43D3-8B79-37D633B846F1}">
                <asvg:svgBlip xmlns:asvg="http://schemas.microsoft.com/office/drawing/2016/SVG/main" r:embed="rId14"/>
              </a:ext>
            </a:extLst>
          </a:blip>
          <a:stretch>
            <a:fillRect/>
          </a:stretch>
        </p:blipFill>
        <p:spPr>
          <a:xfrm>
            <a:off x="6400800" y="3712071"/>
            <a:ext cx="457200" cy="457200"/>
          </a:xfrm>
          <a:prstGeom prst="rect">
            <a:avLst/>
          </a:prstGeom>
        </p:spPr>
      </p:pic>
      <p:pic>
        <p:nvPicPr>
          <p:cNvPr id="112" name="Presenton Native Image 13" descr=""/>
          <p:cNvPicPr/>
          <p:nvPr/>
        </p:nvPicPr>
        <p:blipFill>
          <a:blip r:embed="rId7" cstate="none"/>
          <a:stretch>
            <a:fillRect/>
          </a:stretch>
        </p:blipFill>
        <p:spPr>
          <a:xfrm>
            <a:off x="6515100" y="3829199"/>
            <a:ext cx="228600" cy="228600"/>
          </a:xfrm>
          <a:prstGeom prst="rect">
            <a:avLst/>
          </a:prstGeom>
        </p:spPr>
      </p:pic>
      <p:sp>
        <p:nvSpPr>
          <p:cNvPr id="8" name="Shape 8"/>
          <p:cNvSpPr/>
          <p:nvPr/>
        </p:nvSpPr>
        <p:spPr>
          <a:xfrm>
            <a:off x="7010400" y="3712071"/>
            <a:ext cx="44577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Dedicated Coders</a:t>
            </a:r>
            <a:endParaRPr lang="en-US"/>
          </a:p>
        </p:txBody>
      </p:sp>
      <p:pic>
        <p:nvPicPr>
          <p:cNvPr id="113" name="Presenton Native SVG Image 14" descr=""/>
          <p:cNvPicPr/>
          <p:nvPr/>
        </p:nvPicPr>
        <p:blipFill>
          <a:blip>
            <a:extLst>
              <a:ext uri="{96DAC541-7B7A-43D3-8B79-37D633B846F1}">
                <asvg:svgBlip xmlns:asvg="http://schemas.microsoft.com/office/drawing/2016/SVG/main" r:embed="rId15"/>
              </a:ext>
            </a:extLst>
          </a:blip>
          <a:stretch>
            <a:fillRect/>
          </a:stretch>
        </p:blipFill>
        <p:spPr>
          <a:xfrm>
            <a:off x="7010400" y="4054971"/>
            <a:ext cx="457200" cy="19050"/>
          </a:xfrm>
          <a:prstGeom prst="rect">
            <a:avLst/>
          </a:prstGeom>
        </p:spPr>
      </p:pic>
      <p:sp>
        <p:nvSpPr>
          <p:cNvPr id="9" name="Shape 9"/>
          <p:cNvSpPr/>
          <p:nvPr/>
        </p:nvSpPr>
        <p:spPr>
          <a:xfrm>
            <a:off x="7010400" y="4188321"/>
            <a:ext cx="4457700"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Specialized agents implement modular solutions inside </a:t>
            </a:r>
            <a:r>
              <a:rPr sz="1200" b="1" i="0">
                <a:solidFill>
                  <a:srgbClr val="4B5563"/>
                </a:solidFill>
                <a:latin typeface="Poppins"/>
                <a:ea typeface="Poppins"/>
              </a:rPr>
              <a:t>isolated workspaces</a:t>
            </a:r>
            <a:r>
              <a:rPr sz="1200" b="0" i="0">
                <a:solidFill>
                  <a:srgbClr val="4B5563"/>
                </a:solidFill>
                <a:latin typeface="Poppins"/>
                <a:ea typeface="Poppins"/>
              </a:rPr>
              <a:t xml:space="preserve"> without leaks.</a:t>
            </a:r>
            <a:endParaRPr lang="en-US"/>
          </a:p>
        </p:txBody>
      </p:sp>
      <p:pic>
        <p:nvPicPr>
          <p:cNvPr id="114" name="Presenton Native SVG Image 15" descr=""/>
          <p:cNvPicPr/>
          <p:nvPr/>
        </p:nvPicPr>
        <p:blipFill>
          <a:blip>
            <a:extLst>
              <a:ext uri="{96DAC541-7B7A-43D3-8B79-37D633B846F1}">
                <asvg:svgBlip xmlns:asvg="http://schemas.microsoft.com/office/drawing/2016/SVG/main" r:embed="rId16"/>
              </a:ext>
            </a:extLst>
          </a:blip>
          <a:stretch>
            <a:fillRect/>
          </a:stretch>
        </p:blipFill>
        <p:spPr>
          <a:xfrm>
            <a:off x="6400800" y="4912221"/>
            <a:ext cx="457200" cy="457200"/>
          </a:xfrm>
          <a:prstGeom prst="rect">
            <a:avLst/>
          </a:prstGeom>
        </p:spPr>
      </p:pic>
      <p:pic>
        <p:nvPicPr>
          <p:cNvPr id="115" name="Presenton Native Image 16" descr=""/>
          <p:cNvPicPr/>
          <p:nvPr/>
        </p:nvPicPr>
        <p:blipFill>
          <a:blip r:embed="rId7" cstate="none"/>
          <a:stretch>
            <a:fillRect/>
          </a:stretch>
        </p:blipFill>
        <p:spPr>
          <a:xfrm>
            <a:off x="6515100" y="5029349"/>
            <a:ext cx="228600" cy="228600"/>
          </a:xfrm>
          <a:prstGeom prst="rect">
            <a:avLst/>
          </a:prstGeom>
        </p:spPr>
      </p:pic>
      <p:sp>
        <p:nvSpPr>
          <p:cNvPr id="10" name="Shape 10"/>
          <p:cNvSpPr/>
          <p:nvPr/>
        </p:nvSpPr>
        <p:spPr>
          <a:xfrm>
            <a:off x="7010400" y="4912221"/>
            <a:ext cx="44577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Automated Reviewers</a:t>
            </a:r>
            <a:endParaRPr lang="en-US"/>
          </a:p>
        </p:txBody>
      </p:sp>
      <p:pic>
        <p:nvPicPr>
          <p:cNvPr id="116" name="Presenton Native SVG Image 17" descr=""/>
          <p:cNvPicPr/>
          <p:nvPr/>
        </p:nvPicPr>
        <p:blipFill>
          <a:blip>
            <a:extLst>
              <a:ext uri="{96DAC541-7B7A-43D3-8B79-37D633B846F1}">
                <asvg:svgBlip xmlns:asvg="http://schemas.microsoft.com/office/drawing/2016/SVG/main" r:embed="rId17"/>
              </a:ext>
            </a:extLst>
          </a:blip>
          <a:stretch>
            <a:fillRect/>
          </a:stretch>
        </p:blipFill>
        <p:spPr>
          <a:xfrm>
            <a:off x="7010400" y="5255121"/>
            <a:ext cx="457200" cy="19050"/>
          </a:xfrm>
          <a:prstGeom prst="rect">
            <a:avLst/>
          </a:prstGeom>
        </p:spPr>
      </p:pic>
      <p:sp>
        <p:nvSpPr>
          <p:cNvPr id="11" name="Shape 11"/>
          <p:cNvSpPr/>
          <p:nvPr/>
        </p:nvSpPr>
        <p:spPr>
          <a:xfrm>
            <a:off x="7010400" y="5388471"/>
            <a:ext cx="4457700"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They </a:t>
            </a:r>
            <a:r>
              <a:rPr sz="1200" b="1" i="0">
                <a:solidFill>
                  <a:srgbClr val="4B5563"/>
                </a:solidFill>
                <a:latin typeface="Poppins"/>
                <a:ea typeface="Poppins"/>
              </a:rPr>
              <a:t>test and enforce standards</a:t>
            </a:r>
            <a:r>
              <a:rPr sz="1200" b="0" i="0">
                <a:solidFill>
                  <a:srgbClr val="4B5563"/>
                </a:solidFill>
                <a:latin typeface="Poppins"/>
                <a:ea typeface="Poppins"/>
              </a:rPr>
              <a:t xml:space="preserve"> diligently before triggering any codebase merge event.</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17" name="Presenton Native SVG Image 18" descr=""/>
          <p:cNvPicPr/>
          <p:nvPr/>
        </p:nvPicPr>
        <p:blipFill>
          <a:blip>
            <a:extLst>
              <a:ext uri="{96DAC541-7B7A-43D3-8B79-37D633B846F1}">
                <asvg:svgBlip xmlns:asvg="http://schemas.microsoft.com/office/drawing/2016/SVG/main" r:embed="rId13"/>
              </a:ext>
            </a:extLst>
          </a:blip>
          <a:stretch>
            <a:fillRect/>
          </a:stretch>
        </p:blipFill>
        <p:spPr>
          <a:xfrm>
            <a:off x="0" y="0"/>
            <a:ext cx="12192000" cy="6858000"/>
          </a:xfrm>
          <a:prstGeom prst="rect">
            <a:avLst/>
          </a:prstGeom>
        </p:spPr>
      </p:pic>
      <p:pic>
        <p:nvPicPr>
          <p:cNvPr id="118" name="Presenton Native Image 19" descr=""/>
          <p:cNvPicPr/>
          <p:nvPr/>
        </p:nvPicPr>
        <p:blipFill>
          <a:blip r:embed="rId4" cstate="none"/>
          <a:stretch>
            <a:fillRect/>
          </a:stretch>
        </p:blipFill>
        <p:spPr>
          <a:xfrm>
            <a:off x="0" y="0"/>
            <a:ext cx="1219200" cy="6858000"/>
          </a:xfrm>
          <a:prstGeom prst="rect">
            <a:avLst/>
          </a:prstGeom>
        </p:spPr>
      </p:pic>
      <p:pic>
        <p:nvPicPr>
          <p:cNvPr id="119" name="Presenton Native Image 20" descr=""/>
          <p:cNvPicPr/>
          <p:nvPr/>
        </p:nvPicPr>
        <p:blipFill>
          <a:blip r:embed="rId5" cstate="none"/>
          <a:stretch>
            <a:fillRect/>
          </a:stretch>
        </p:blipFill>
        <p:spPr>
          <a:xfrm>
            <a:off x="0" y="5638800"/>
            <a:ext cx="1828800" cy="1219200"/>
          </a:xfrm>
          <a:prstGeom prst="rect">
            <a:avLst/>
          </a:prstGeom>
        </p:spPr>
      </p:pic>
      <p:pic>
        <p:nvPicPr>
          <p:cNvPr id="120" name="Presenton Native Image 21" descr=""/>
          <p:cNvPicPr/>
          <p:nvPr/>
        </p:nvPicPr>
        <p:blipFill>
          <a:blip r:embed="rId6" cstate="none"/>
          <a:stretch>
            <a:fillRect/>
          </a:stretch>
        </p:blipFill>
        <p:spPr>
          <a:xfrm>
            <a:off x="10820400" y="762000"/>
            <a:ext cx="304800" cy="304800"/>
          </a:xfrm>
          <a:prstGeom prst="rect">
            <a:avLst/>
          </a:prstGeom>
        </p:spPr>
      </p:pic>
      <p:pic>
        <p:nvPicPr>
          <p:cNvPr id="121" name="Presenton Native Image 22" descr=""/>
          <p:cNvPicPr/>
          <p:nvPr/>
        </p:nvPicPr>
        <p:blipFill>
          <a:blip r:embed="rId7" cstate="none"/>
          <a:stretch>
            <a:fillRect/>
          </a:stretch>
        </p:blipFill>
        <p:spPr>
          <a:xfrm>
            <a:off x="8077200" y="1066800"/>
            <a:ext cx="762000" cy="190500"/>
          </a:xfrm>
          <a:prstGeom prst="rect">
            <a:avLst/>
          </a:prstGeom>
        </p:spPr>
      </p:pic>
      <p:sp>
        <p:nvSpPr>
          <p:cNvPr id="12" name="Shape 12"/>
          <p:cNvSpPr/>
          <p:nvPr/>
        </p:nvSpPr>
        <p:spPr>
          <a:xfrm>
            <a:off x="774055" y="396925"/>
            <a:ext cx="6996857" cy="1097161"/>
          </a:xfrm>
          <a:prstGeom prst="rect">
            <a:avLst/>
          </a:prstGeom>
          <a:noFill/>
        </p:spPr>
        <p:txBody>
          <a:bodyPr anchor="t" wrap="square" tIns="0" bIns="0" lIns="0" rIns="0">
            <a:normAutofit/>
          </a:bodyPr>
          <a:lstStyle/>
          <a:p>
            <a:pPr algn="l">
              <a:lnSpc>
                <a:spcPts val="4320"/>
              </a:lnSpc>
              <a:buNone/>
            </a:pPr>
            <a:r>
              <a:rPr sz="5400" b="1" i="0">
                <a:solidFill>
                  <a:srgbClr val="111827"/>
                </a:solidFill>
                <a:latin typeface="Poppins"/>
                <a:ea typeface="Poppins"/>
              </a:rPr>
              <a:t>Harness Architecture</a:t>
            </a:r>
            <a:endParaRPr lang="en-US"/>
          </a:p>
        </p:txBody>
      </p:sp>
      <p:pic>
        <p:nvPicPr>
          <p:cNvPr id="122" name="Presenton Native SVG Image 23" descr=""/>
          <p:cNvPicPr/>
          <p:nvPr/>
        </p:nvPicPr>
        <p:blipFill>
          <a:blip>
            <a:extLst>
              <a:ext uri="{96DAC541-7B7A-43D3-8B79-37D633B846F1}">
                <asvg:svgBlip xmlns:asvg="http://schemas.microsoft.com/office/drawing/2016/SVG/main" r:embed="rId14"/>
              </a:ext>
            </a:extLst>
          </a:blip>
          <a:stretch>
            <a:fillRect/>
          </a:stretch>
        </p:blipFill>
        <p:spPr>
          <a:xfrm>
            <a:off x="854125" y="2006798"/>
            <a:ext cx="457200" cy="457200"/>
          </a:xfrm>
          <a:prstGeom prst="rect">
            <a:avLst/>
          </a:prstGeom>
        </p:spPr>
      </p:pic>
      <p:pic>
        <p:nvPicPr>
          <p:cNvPr id="123" name="Presenton Native Image 24" descr=""/>
          <p:cNvPicPr/>
          <p:nvPr/>
        </p:nvPicPr>
        <p:blipFill>
          <a:blip r:embed="rId3" cstate="none"/>
          <a:stretch>
            <a:fillRect/>
          </a:stretch>
        </p:blipFill>
        <p:spPr>
          <a:xfrm>
            <a:off x="968425" y="2123926"/>
            <a:ext cx="228600" cy="228600"/>
          </a:xfrm>
          <a:prstGeom prst="rect">
            <a:avLst/>
          </a:prstGeom>
        </p:spPr>
      </p:pic>
      <p:sp>
        <p:nvSpPr>
          <p:cNvPr id="13" name="Shape 13"/>
          <p:cNvSpPr/>
          <p:nvPr/>
        </p:nvSpPr>
        <p:spPr>
          <a:xfrm>
            <a:off x="1463725" y="2006798"/>
            <a:ext cx="23622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Container Sandboxing</a:t>
            </a:r>
            <a:endParaRPr lang="en-US"/>
          </a:p>
        </p:txBody>
      </p:sp>
      <p:sp>
        <p:nvSpPr>
          <p:cNvPr id="14" name="Shape 14"/>
          <p:cNvSpPr/>
          <p:nvPr/>
        </p:nvSpPr>
        <p:spPr>
          <a:xfrm>
            <a:off x="1475780" y="2311598"/>
            <a:ext cx="2362200" cy="519708"/>
          </a:xfrm>
          <a:prstGeom prst="rect">
            <a:avLst/>
          </a:prstGeom>
          <a:noFill/>
        </p:spPr>
        <p:txBody>
          <a:bodyPr anchor="t" wrap="square" tIns="0" bIns="0" lIns="0" rIns="0">
            <a:normAutofit/>
          </a:bodyPr>
          <a:lstStyle/>
          <a:p>
            <a:pPr algn="l">
              <a:lnSpc>
                <a:spcPts val="1365"/>
              </a:lnSpc>
              <a:buNone/>
            </a:pPr>
            <a:r>
              <a:rPr sz="1050" b="0" i="0">
                <a:solidFill>
                  <a:srgbClr val="4B5563"/>
                </a:solidFill>
                <a:latin typeface="Poppins"/>
                <a:ea typeface="Poppins"/>
              </a:rPr>
              <a:t xml:space="preserve">Strict </a:t>
            </a:r>
            <a:r>
              <a:rPr sz="1050" b="1" i="0">
                <a:solidFill>
                  <a:srgbClr val="4B5563"/>
                </a:solidFill>
                <a:latin typeface="Poppins"/>
                <a:ea typeface="Poppins"/>
              </a:rPr>
              <a:t>file system boundaries</a:t>
            </a:r>
            <a:r>
              <a:rPr sz="1050" b="0" i="0">
                <a:solidFill>
                  <a:srgbClr val="4B5563"/>
                </a:solidFill>
                <a:latin typeface="Poppins"/>
                <a:ea typeface="Poppins"/>
              </a:rPr>
              <a:t xml:space="preserve"> isolate execution to prevent unauthorized host access.</a:t>
            </a:r>
            <a:endParaRPr lang="en-US"/>
          </a:p>
        </p:txBody>
      </p:sp>
      <p:pic>
        <p:nvPicPr>
          <p:cNvPr id="124" name="Presenton Native SVG Image 25" descr=""/>
          <p:cNvPicPr/>
          <p:nvPr/>
        </p:nvPicPr>
        <p:blipFill>
          <a:blip>
            <a:extLst>
              <a:ext uri="{96DAC541-7B7A-43D3-8B79-37D633B846F1}">
                <asvg:svgBlip xmlns:asvg="http://schemas.microsoft.com/office/drawing/2016/SVG/main" r:embed="rId15"/>
              </a:ext>
            </a:extLst>
          </a:blip>
          <a:stretch>
            <a:fillRect/>
          </a:stretch>
        </p:blipFill>
        <p:spPr>
          <a:xfrm>
            <a:off x="4321225" y="2006798"/>
            <a:ext cx="457200" cy="457200"/>
          </a:xfrm>
          <a:prstGeom prst="rect">
            <a:avLst/>
          </a:prstGeom>
        </p:spPr>
      </p:pic>
      <p:pic>
        <p:nvPicPr>
          <p:cNvPr id="125" name="Presenton Native Image 26" descr=""/>
          <p:cNvPicPr/>
          <p:nvPr/>
        </p:nvPicPr>
        <p:blipFill>
          <a:blip r:embed="rId3" cstate="none"/>
          <a:stretch>
            <a:fillRect/>
          </a:stretch>
        </p:blipFill>
        <p:spPr>
          <a:xfrm>
            <a:off x="4435525" y="2123926"/>
            <a:ext cx="228600" cy="228600"/>
          </a:xfrm>
          <a:prstGeom prst="rect">
            <a:avLst/>
          </a:prstGeom>
        </p:spPr>
      </p:pic>
      <p:sp>
        <p:nvSpPr>
          <p:cNvPr id="15" name="Shape 15"/>
          <p:cNvSpPr/>
          <p:nvPr/>
        </p:nvSpPr>
        <p:spPr>
          <a:xfrm>
            <a:off x="4930825" y="2006798"/>
            <a:ext cx="23622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Safe Tool Execution</a:t>
            </a:r>
            <a:endParaRPr lang="en-US"/>
          </a:p>
        </p:txBody>
      </p:sp>
      <p:sp>
        <p:nvSpPr>
          <p:cNvPr id="16" name="Shape 16"/>
          <p:cNvSpPr/>
          <p:nvPr/>
        </p:nvSpPr>
        <p:spPr>
          <a:xfrm>
            <a:off x="4918621" y="2287488"/>
            <a:ext cx="2362200" cy="519708"/>
          </a:xfrm>
          <a:prstGeom prst="rect">
            <a:avLst/>
          </a:prstGeom>
          <a:noFill/>
        </p:spPr>
        <p:txBody>
          <a:bodyPr anchor="t" wrap="square" tIns="0" bIns="0" lIns="0" rIns="0">
            <a:normAutofit/>
          </a:bodyPr>
          <a:lstStyle/>
          <a:p>
            <a:pPr algn="l">
              <a:lnSpc>
                <a:spcPts val="1365"/>
              </a:lnSpc>
              <a:buNone/>
            </a:pPr>
            <a:r>
              <a:rPr sz="1050" b="0" i="0">
                <a:solidFill>
                  <a:srgbClr val="4B5563"/>
                </a:solidFill>
                <a:latin typeface="Poppins"/>
                <a:ea typeface="Poppins"/>
              </a:rPr>
              <a:t xml:space="preserve">Local runtime coordinates </a:t>
            </a:r>
            <a:r>
              <a:rPr sz="1050" b="1" i="0">
                <a:solidFill>
                  <a:srgbClr val="4B5563"/>
                </a:solidFill>
                <a:latin typeface="Poppins"/>
                <a:ea typeface="Poppins"/>
              </a:rPr>
              <a:t>shell and debug commands</a:t>
            </a:r>
            <a:r>
              <a:rPr sz="1050" b="0" i="0">
                <a:solidFill>
                  <a:srgbClr val="4B5563"/>
                </a:solidFill>
                <a:latin typeface="Poppins"/>
                <a:ea typeface="Poppins"/>
              </a:rPr>
              <a:t xml:space="preserve"> under verified safety policies.</a:t>
            </a:r>
            <a:endParaRPr lang="en-US"/>
          </a:p>
        </p:txBody>
      </p:sp>
      <p:pic>
        <p:nvPicPr>
          <p:cNvPr id="126" name="Presenton Native SVG Image 27" descr=""/>
          <p:cNvPicPr/>
          <p:nvPr/>
        </p:nvPicPr>
        <p:blipFill>
          <a:blip>
            <a:extLst>
              <a:ext uri="{96DAC541-7B7A-43D3-8B79-37D633B846F1}">
                <asvg:svgBlip xmlns:asvg="http://schemas.microsoft.com/office/drawing/2016/SVG/main" r:embed="rId16"/>
              </a:ext>
            </a:extLst>
          </a:blip>
          <a:stretch>
            <a:fillRect/>
          </a:stretch>
        </p:blipFill>
        <p:spPr>
          <a:xfrm>
            <a:off x="854125" y="3495824"/>
            <a:ext cx="457200" cy="457200"/>
          </a:xfrm>
          <a:prstGeom prst="rect">
            <a:avLst/>
          </a:prstGeom>
        </p:spPr>
      </p:pic>
      <p:pic>
        <p:nvPicPr>
          <p:cNvPr id="127" name="Presenton Native Image 28" descr=""/>
          <p:cNvPicPr/>
          <p:nvPr/>
        </p:nvPicPr>
        <p:blipFill>
          <a:blip r:embed="rId3" cstate="none"/>
          <a:stretch>
            <a:fillRect/>
          </a:stretch>
        </p:blipFill>
        <p:spPr>
          <a:xfrm>
            <a:off x="968425" y="3612952"/>
            <a:ext cx="228600" cy="228600"/>
          </a:xfrm>
          <a:prstGeom prst="rect">
            <a:avLst/>
          </a:prstGeom>
        </p:spPr>
      </p:pic>
      <p:sp>
        <p:nvSpPr>
          <p:cNvPr id="17" name="Shape 17"/>
          <p:cNvSpPr/>
          <p:nvPr/>
        </p:nvSpPr>
        <p:spPr>
          <a:xfrm>
            <a:off x="1463725" y="3495824"/>
            <a:ext cx="2362200" cy="213271"/>
          </a:xfrm>
          <a:prstGeom prst="rect">
            <a:avLst/>
          </a:prstGeom>
          <a:noFill/>
        </p:spPr>
        <p:txBody>
          <a:bodyPr anchor="t" wrap="square" tIns="0" bIns="0" lIns="0" rIns="0">
            <a:normAutofit/>
          </a:bodyPr>
          <a:lstStyle/>
          <a:p>
            <a:pPr algn="l">
              <a:lnSpc>
                <a:spcPts val="1680"/>
              </a:lnSpc>
              <a:buNone/>
            </a:pPr>
            <a:r>
              <a:rPr sz="1500" b="0" i="0">
                <a:solidFill>
                  <a:srgbClr val="111827"/>
                </a:solidFill>
                <a:latin typeface="Poppins"/>
                <a:ea typeface="Poppins"/>
              </a:rPr>
              <a:t>Persistent Context</a:t>
            </a:r>
            <a:endParaRPr lang="en-US"/>
          </a:p>
        </p:txBody>
      </p:sp>
      <p:sp>
        <p:nvSpPr>
          <p:cNvPr id="18" name="Shape 18"/>
          <p:cNvSpPr/>
          <p:nvPr/>
        </p:nvSpPr>
        <p:spPr>
          <a:xfrm>
            <a:off x="1463725" y="3800624"/>
            <a:ext cx="2362200" cy="519708"/>
          </a:xfrm>
          <a:prstGeom prst="rect">
            <a:avLst/>
          </a:prstGeom>
          <a:noFill/>
        </p:spPr>
        <p:txBody>
          <a:bodyPr anchor="t" wrap="square" tIns="0" bIns="0" lIns="0" rIns="0">
            <a:normAutofit/>
          </a:bodyPr>
          <a:lstStyle/>
          <a:p>
            <a:pPr algn="l">
              <a:lnSpc>
                <a:spcPts val="1365"/>
              </a:lnSpc>
              <a:buNone/>
            </a:pPr>
            <a:r>
              <a:rPr sz="1050" b="0" i="0">
                <a:solidFill>
                  <a:srgbClr val="4B5563"/>
                </a:solidFill>
                <a:latin typeface="Poppins"/>
                <a:ea typeface="Poppins"/>
              </a:rPr>
              <a:t xml:space="preserve">Vector indices and </a:t>
            </a:r>
            <a:r>
              <a:rPr sz="1050" b="1" i="0">
                <a:solidFill>
                  <a:srgbClr val="4B5563"/>
                </a:solidFill>
                <a:latin typeface="Poppins"/>
                <a:ea typeface="Poppins"/>
              </a:rPr>
              <a:t>markdown vaults</a:t>
            </a:r>
            <a:r>
              <a:rPr sz="1050" b="0" i="0">
                <a:solidFill>
                  <a:srgbClr val="4B5563"/>
                </a:solidFill>
                <a:latin typeface="Poppins"/>
                <a:ea typeface="Poppins"/>
              </a:rPr>
              <a:t xml:space="preserve"> preserve critical state across development loops.</a:t>
            </a:r>
            <a:endParaRPr lang="en-US"/>
          </a:p>
        </p:txBody>
      </p:sp>
      <p:pic>
        <p:nvPicPr>
          <p:cNvPr id="128" name="Presenton Native SVG Image 29" descr=""/>
          <p:cNvPicPr/>
          <p:nvPr/>
        </p:nvPicPr>
        <p:blipFill>
          <a:blip>
            <a:extLst>
              <a:ext uri="{96DAC541-7B7A-43D3-8B79-37D633B846F1}">
                <asvg:svgBlip xmlns:asvg="http://schemas.microsoft.com/office/drawing/2016/SVG/main" r:embed="rId17"/>
              </a:ext>
            </a:extLst>
          </a:blip>
          <a:stretch>
            <a:fillRect/>
          </a:stretch>
        </p:blipFill>
        <p:spPr>
          <a:xfrm>
            <a:off x="7772400" y="1981200"/>
            <a:ext cx="3657600" cy="3048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29" name="Presenton Native SVG Image 30" descr=""/>
          <p:cNvPicPr/>
          <p:nvPr/>
        </p:nvPicPr>
        <p:blipFill>
          <a:blip>
            <a:extLst>
              <a:ext uri="{96DAC541-7B7A-43D3-8B79-37D633B846F1}">
                <asvg:svgBlip xmlns:asvg="http://schemas.microsoft.com/office/drawing/2016/SVG/main" r:embed="rId6"/>
              </a:ext>
            </a:extLst>
          </a:blip>
          <a:stretch>
            <a:fillRect/>
          </a:stretch>
        </p:blipFill>
        <p:spPr>
          <a:xfrm>
            <a:off x="0" y="0"/>
            <a:ext cx="12192000" cy="6858000"/>
          </a:xfrm>
          <a:prstGeom prst="rect">
            <a:avLst/>
          </a:prstGeom>
        </p:spPr>
      </p:pic>
      <p:pic>
        <p:nvPicPr>
          <p:cNvPr id="130" name="Presenton Native Image 31" descr=""/>
          <p:cNvPicPr/>
          <p:nvPr/>
        </p:nvPicPr>
        <p:blipFill>
          <a:blip r:embed="rId3" cstate="none"/>
          <a:stretch>
            <a:fillRect/>
          </a:stretch>
        </p:blipFill>
        <p:spPr>
          <a:xfrm>
            <a:off x="0" y="6096000"/>
            <a:ext cx="12192000" cy="762000"/>
          </a:xfrm>
          <a:prstGeom prst="rect">
            <a:avLst/>
          </a:prstGeom>
        </p:spPr>
      </p:pic>
      <p:sp>
        <p:nvSpPr>
          <p:cNvPr id="19" name="Shape 19"/>
          <p:cNvSpPr/>
          <p:nvPr/>
        </p:nvSpPr>
        <p:spPr>
          <a:xfrm>
            <a:off x="762000" y="457200"/>
            <a:ext cx="7353300" cy="4572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Agent Orchestration</a:t>
            </a:r>
            <a:endParaRPr lang="en-US"/>
          </a:p>
        </p:txBody>
      </p:sp>
      <p:pic>
        <p:nvPicPr>
          <p:cNvPr id="131" name="Presenton Native SVG Image 32" descr=""/>
          <p:cNvPicPr/>
          <p:nvPr/>
        </p:nvPicPr>
        <p:blipFill>
          <a:blip>
            <a:extLst>
              <a:ext uri="{96DAC541-7B7A-43D3-8B79-37D633B846F1}">
                <asvg:svgBlip xmlns:asvg="http://schemas.microsoft.com/office/drawing/2016/SVG/main" r:embed="rId7"/>
              </a:ext>
            </a:extLst>
          </a:blip>
          <a:stretch>
            <a:fillRect/>
          </a:stretch>
        </p:blipFill>
        <p:spPr>
          <a:xfrm>
            <a:off x="762000" y="1181100"/>
            <a:ext cx="914400" cy="38100"/>
          </a:xfrm>
          <a:prstGeom prst="rect">
            <a:avLst/>
          </a:prstGeom>
        </p:spPr>
      </p:pic>
      <p:sp>
        <p:nvSpPr>
          <p:cNvPr id="20" name="Shape 20"/>
          <p:cNvSpPr/>
          <p:nvPr/>
        </p:nvSpPr>
        <p:spPr>
          <a:xfrm>
            <a:off x="762000" y="2590800"/>
            <a:ext cx="51435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01</a:t>
            </a:r>
            <a:endParaRPr lang="en-US"/>
          </a:p>
        </p:txBody>
      </p:sp>
      <p:sp>
        <p:nvSpPr>
          <p:cNvPr id="21" name="Shape 21"/>
          <p:cNvSpPr/>
          <p:nvPr/>
        </p:nvSpPr>
        <p:spPr>
          <a:xfrm>
            <a:off x="1381125" y="2667000"/>
            <a:ext cx="460057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Task Dispatching</a:t>
            </a:r>
            <a:endParaRPr lang="en-US"/>
          </a:p>
        </p:txBody>
      </p:sp>
      <p:sp>
        <p:nvSpPr>
          <p:cNvPr id="22" name="Shape 22"/>
          <p:cNvSpPr/>
          <p:nvPr/>
        </p:nvSpPr>
        <p:spPr>
          <a:xfrm>
            <a:off x="1381125" y="3086100"/>
            <a:ext cx="4600575"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Directs </a:t>
            </a:r>
            <a:r>
              <a:rPr sz="1200" b="1" i="0">
                <a:solidFill>
                  <a:srgbClr val="4B5563"/>
                </a:solidFill>
                <a:latin typeface="Poppins"/>
                <a:ea typeface="Poppins"/>
              </a:rPr>
              <a:t>sub-tasks to specialized subagents</a:t>
            </a:r>
            <a:r>
              <a:rPr sz="1200" b="0" i="0">
                <a:solidFill>
                  <a:srgbClr val="4B5563"/>
                </a:solidFill>
                <a:latin typeface="Poppins"/>
                <a:ea typeface="Poppins"/>
              </a:rPr>
              <a:t xml:space="preserve"> dynamically through an event-driven message architecture.</a:t>
            </a:r>
            <a:endParaRPr lang="en-US"/>
          </a:p>
        </p:txBody>
      </p:sp>
      <p:sp>
        <p:nvSpPr>
          <p:cNvPr id="23" name="Shape 23"/>
          <p:cNvSpPr/>
          <p:nvPr/>
        </p:nvSpPr>
        <p:spPr>
          <a:xfrm>
            <a:off x="6162675" y="2590800"/>
            <a:ext cx="600075"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02</a:t>
            </a:r>
            <a:endParaRPr lang="en-US"/>
          </a:p>
        </p:txBody>
      </p:sp>
      <p:sp>
        <p:nvSpPr>
          <p:cNvPr id="24" name="Shape 24"/>
          <p:cNvSpPr/>
          <p:nvPr/>
        </p:nvSpPr>
        <p:spPr>
          <a:xfrm>
            <a:off x="6877050" y="2667000"/>
            <a:ext cx="4505325"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Shared Scratchpad</a:t>
            </a:r>
            <a:endParaRPr lang="en-US"/>
          </a:p>
        </p:txBody>
      </p:sp>
      <p:sp>
        <p:nvSpPr>
          <p:cNvPr id="25" name="Shape 25"/>
          <p:cNvSpPr/>
          <p:nvPr/>
        </p:nvSpPr>
        <p:spPr>
          <a:xfrm>
            <a:off x="6877050" y="3086100"/>
            <a:ext cx="4505325"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Preserves </a:t>
            </a:r>
            <a:r>
              <a:rPr sz="1200" b="1" i="0">
                <a:solidFill>
                  <a:srgbClr val="4B5563"/>
                </a:solidFill>
                <a:latin typeface="Poppins"/>
                <a:ea typeface="Poppins"/>
              </a:rPr>
              <a:t>consensus state across agents</a:t>
            </a:r>
            <a:r>
              <a:rPr sz="1200" b="0" i="0">
                <a:solidFill>
                  <a:srgbClr val="4B5563"/>
                </a:solidFill>
                <a:latin typeface="Poppins"/>
                <a:ea typeface="Poppins"/>
              </a:rPr>
              <a:t xml:space="preserve"> effectively while eliminating cumulative context bloat.</a:t>
            </a:r>
            <a:endParaRPr lang="en-US"/>
          </a:p>
        </p:txBody>
      </p:sp>
      <p:sp>
        <p:nvSpPr>
          <p:cNvPr id="26" name="Shape 26"/>
          <p:cNvSpPr/>
          <p:nvPr/>
        </p:nvSpPr>
        <p:spPr>
          <a:xfrm>
            <a:off x="762000" y="3914775"/>
            <a:ext cx="609600" cy="365671"/>
          </a:xfrm>
          <a:prstGeom prst="rect">
            <a:avLst/>
          </a:prstGeom>
          <a:noFill/>
        </p:spPr>
        <p:txBody>
          <a:bodyPr anchor="t" wrap="square" tIns="0" bIns="0" lIns="0" rIns="0">
            <a:normAutofit/>
          </a:bodyPr>
          <a:lstStyle/>
          <a:p>
            <a:pPr algn="l">
              <a:lnSpc>
                <a:spcPts val="2880"/>
              </a:lnSpc>
              <a:buNone/>
            </a:pPr>
            <a:r>
              <a:rPr sz="3600" b="1" i="0">
                <a:solidFill>
                  <a:srgbClr val="111827"/>
                </a:solidFill>
                <a:latin typeface="Poppins"/>
                <a:ea typeface="Poppins"/>
              </a:rPr>
              <a:t>03</a:t>
            </a:r>
            <a:endParaRPr lang="en-US"/>
          </a:p>
        </p:txBody>
      </p:sp>
      <p:sp>
        <p:nvSpPr>
          <p:cNvPr id="27" name="Shape 27"/>
          <p:cNvSpPr/>
          <p:nvPr/>
        </p:nvSpPr>
        <p:spPr>
          <a:xfrm>
            <a:off x="1485900" y="3990975"/>
            <a:ext cx="4495800" cy="244525"/>
          </a:xfrm>
          <a:prstGeom prst="rect">
            <a:avLst/>
          </a:prstGeom>
          <a:noFill/>
        </p:spPr>
        <p:txBody>
          <a:bodyPr anchor="t" wrap="square" tIns="0" bIns="0" lIns="0" rIns="0">
            <a:normAutofit/>
          </a:bodyPr>
          <a:lstStyle/>
          <a:p>
            <a:pPr algn="l">
              <a:lnSpc>
                <a:spcPts val="1926"/>
              </a:lnSpc>
              <a:buNone/>
            </a:pPr>
            <a:r>
              <a:rPr sz="1800" b="1" i="0">
                <a:solidFill>
                  <a:srgbClr val="111827"/>
                </a:solidFill>
                <a:latin typeface="Poppins"/>
                <a:ea typeface="Poppins"/>
              </a:rPr>
              <a:t>Local Model Proxy</a:t>
            </a:r>
            <a:endParaRPr lang="en-US"/>
          </a:p>
        </p:txBody>
      </p:sp>
      <p:sp>
        <p:nvSpPr>
          <p:cNvPr id="28" name="Shape 28"/>
          <p:cNvSpPr/>
          <p:nvPr/>
        </p:nvSpPr>
        <p:spPr>
          <a:xfrm>
            <a:off x="1485900" y="4410075"/>
            <a:ext cx="4495800" cy="396180"/>
          </a:xfrm>
          <a:prstGeom prst="rect">
            <a:avLst/>
          </a:prstGeom>
          <a:noFill/>
        </p:spPr>
        <p:txBody>
          <a:bodyPr anchor="t" wrap="square" tIns="0" bIns="0" lIns="0" rIns="0">
            <a:normAutofit/>
          </a:bodyPr>
          <a:lstStyle/>
          <a:p>
            <a:pPr algn="l">
              <a:lnSpc>
                <a:spcPts val="1560"/>
              </a:lnSpc>
              <a:buNone/>
            </a:pPr>
            <a:r>
              <a:rPr sz="1200" b="0" i="0">
                <a:solidFill>
                  <a:srgbClr val="4B5563"/>
                </a:solidFill>
                <a:latin typeface="Poppins"/>
                <a:ea typeface="Poppins"/>
              </a:rPr>
              <a:t xml:space="preserve">Dynamically </a:t>
            </a:r>
            <a:r>
              <a:rPr sz="1200" b="1" i="0">
                <a:solidFill>
                  <a:srgbClr val="4B5563"/>
                </a:solidFill>
                <a:latin typeface="Poppins"/>
                <a:ea typeface="Poppins"/>
              </a:rPr>
              <a:t>routes requests between models</a:t>
            </a:r>
            <a:r>
              <a:rPr sz="1200" b="0" i="0">
                <a:solidFill>
                  <a:srgbClr val="4B5563"/>
                </a:solidFill>
                <a:latin typeface="Poppins"/>
                <a:ea typeface="Poppins"/>
              </a:rPr>
              <a:t xml:space="preserve"> based on real-time latency, budget, and capabilities.</a:t>
            </a: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pic>
        <p:nvPicPr>
          <p:cNvPr id="132" name="Presenton Native SVG Image 33" descr=""/>
          <p:cNvPicPr/>
          <p:nvPr/>
        </p:nvPicPr>
        <p:blipFill>
          <a:blip>
            <a:extLst>
              <a:ext uri="{96DAC541-7B7A-43D3-8B79-37D633B846F1}">
                <asvg:svgBlip xmlns:asvg="http://schemas.microsoft.com/office/drawing/2016/SVG/main" r:embed="rId6"/>
              </a:ext>
            </a:extLst>
          </a:blip>
          <a:stretch>
            <a:fillRect/>
          </a:stretch>
        </p:blipFill>
        <p:spPr>
          <a:xfrm>
            <a:off x="0" y="0"/>
            <a:ext cx="12192000" cy="6858000"/>
          </a:xfrm>
          <a:prstGeom prst="rect">
            <a:avLst/>
          </a:prstGeom>
        </p:spPr>
      </p:pic>
      <p:pic>
        <p:nvPicPr>
          <p:cNvPr id="133" name="Presenton Native SVG Image 34" descr=""/>
          <p:cNvPicPr/>
          <p:nvPr/>
        </p:nvPicPr>
        <p:blipFill>
          <a:blip>
            <a:extLst>
              <a:ext uri="{96DAC541-7B7A-43D3-8B79-37D633B846F1}">
                <asvg:svgBlip xmlns:asvg="http://schemas.microsoft.com/office/drawing/2016/SVG/main" r:embed="rId7"/>
              </a:ext>
            </a:extLst>
          </a:blip>
          <a:stretch>
            <a:fillRect/>
          </a:stretch>
        </p:blipFill>
        <p:spPr>
          <a:xfrm>
            <a:off x="838200" y="1752600"/>
            <a:ext cx="4876800" cy="3048000"/>
          </a:xfrm>
          <a:prstGeom prst="rect">
            <a:avLst/>
          </a:prstGeom>
        </p:spPr>
      </p:pic>
      <p:sp>
        <p:nvSpPr>
          <p:cNvPr id="29" name="Shape 29"/>
          <p:cNvSpPr/>
          <p:nvPr/>
        </p:nvSpPr>
        <p:spPr>
          <a:xfrm>
            <a:off x="6400800" y="1899940"/>
            <a:ext cx="5067300" cy="914400"/>
          </a:xfrm>
          <a:prstGeom prst="rect">
            <a:avLst/>
          </a:prstGeom>
          <a:noFill/>
        </p:spPr>
        <p:txBody>
          <a:bodyPr anchor="t" wrap="square" tIns="0" bIns="0" lIns="0" rIns="0">
            <a:normAutofit/>
          </a:bodyPr>
          <a:lstStyle/>
          <a:p>
            <a:pPr algn="l">
              <a:lnSpc>
                <a:spcPts val="3600"/>
              </a:lnSpc>
              <a:buNone/>
            </a:pPr>
            <a:r>
              <a:rPr sz="4500" b="1" i="0">
                <a:solidFill>
                  <a:srgbClr val="111827"/>
                </a:solidFill>
                <a:latin typeface="Poppins"/>
                <a:ea typeface="Poppins"/>
              </a:rPr>
              <a:t>Autonomous Workflows</a:t>
            </a:r>
            <a:endParaRPr lang="en-US"/>
          </a:p>
        </p:txBody>
      </p:sp>
      <p:pic>
        <p:nvPicPr>
          <p:cNvPr id="134" name="Presenton Native SVG Image 35" descr=""/>
          <p:cNvPicPr/>
          <p:nvPr/>
        </p:nvPicPr>
        <p:blipFill>
          <a:blip>
            <a:extLst>
              <a:ext uri="{96DAC541-7B7A-43D3-8B79-37D633B846F1}">
                <asvg:svgBlip xmlns:asvg="http://schemas.microsoft.com/office/drawing/2016/SVG/main" r:embed="rId8"/>
              </a:ext>
            </a:extLst>
          </a:blip>
          <a:stretch>
            <a:fillRect/>
          </a:stretch>
        </p:blipFill>
        <p:spPr>
          <a:xfrm>
            <a:off x="6400800" y="3271540"/>
            <a:ext cx="762000" cy="38100"/>
          </a:xfrm>
          <a:prstGeom prst="rect">
            <a:avLst/>
          </a:prstGeom>
        </p:spPr>
      </p:pic>
      <p:sp>
        <p:nvSpPr>
          <p:cNvPr id="30" name="Shape 30"/>
          <p:cNvSpPr/>
          <p:nvPr/>
        </p:nvSpPr>
        <p:spPr>
          <a:xfrm>
            <a:off x="6400800" y="3468886"/>
            <a:ext cx="5067300" cy="1062633"/>
          </a:xfrm>
          <a:prstGeom prst="rect">
            <a:avLst/>
          </a:prstGeom>
          <a:noFill/>
        </p:spPr>
        <p:txBody>
          <a:bodyPr anchor="t" wrap="square" tIns="0" bIns="0" lIns="0" rIns="0">
            <a:normAutofit/>
          </a:bodyPr>
          <a:lstStyle/>
          <a:p>
            <a:pPr algn="l">
              <a:lnSpc>
                <a:spcPts val="1674"/>
              </a:lnSpc>
              <a:buNone/>
            </a:pPr>
            <a:r>
              <a:rPr sz="1350" b="0" i="0">
                <a:solidFill>
                  <a:srgbClr val="4B5563"/>
                </a:solidFill>
                <a:latin typeface="Poppins"/>
                <a:ea typeface="Poppins"/>
              </a:rPr>
              <a:t xml:space="preserve">Community systems advance toward </a:t>
            </a:r>
            <a:r>
              <a:rPr sz="1350" b="1" i="0">
                <a:solidFill>
                  <a:srgbClr val="4B5563"/>
                </a:solidFill>
                <a:latin typeface="Poppins"/>
                <a:ea typeface="Poppins"/>
              </a:rPr>
              <a:t>autonomous adaptation</a:t>
            </a:r>
            <a:r>
              <a:rPr sz="1350" b="0" i="0">
                <a:solidFill>
                  <a:srgbClr val="4B5563"/>
                </a:solidFill>
                <a:latin typeface="Poppins"/>
                <a:ea typeface="Poppins"/>
              </a:rPr>
              <a:t xml:space="preserve"> and </a:t>
            </a:r>
            <a:r>
              <a:rPr sz="1350" b="1" i="0">
                <a:solidFill>
                  <a:srgbClr val="4B5563"/>
                </a:solidFill>
                <a:latin typeface="Poppins"/>
                <a:ea typeface="Poppins"/>
              </a:rPr>
              <a:t>distributed collaboration</a:t>
            </a:r>
            <a:r>
              <a:rPr sz="1350" b="0" i="0">
                <a:solidFill>
                  <a:srgbClr val="4B5563"/>
                </a:solidFill>
                <a:latin typeface="Poppins"/>
                <a:ea typeface="Poppins"/>
              </a:rPr>
              <a:t>. Continuous human feedback updates memory vaults, while decentralized peer protocols allow agents to negotiate secure task handoffs across machines.</a:t>
            </a:r>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majorFont>
      <a:minorFont>
        <a:latin typeface="Calibri" panose="020F0502020204030204"/>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lumMod val="102000"/>
                <a:satMod val="103000"/>
                <a:tint val="94000"/>
              </a:schemeClr>
            </a:gs>
            <a:gs pos="50000">
              <a:schemeClr val="phClr">
                <a:lumMod val="100000"/>
                <a:satMod val="11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mitype="http://purl.org/dcmitype/" xmlns:dcterms="http://purl.org/dc/terms/" xmlns:xsi="http://www.w3.org/2001/XMLSchema-instance">
  <dc:title>Personal Harness Engineering and Agent Multiplayer Setups Presenter Alex Rivera Date October 3,</dc:title>
  <dc:subject>Generated by Presenton export-core</dc:subject>
  <dc:creator>Presenton</dc:creator>
  <cp:lastModifiedBy>Presenton</cp:lastModifiedBy>
  <dcterms:created xsi:type="dcterms:W3CDTF">2026-10-03T09:41:02.682Z</dcterms:created>
  <dcterms:modified xsi:type="dcterms:W3CDTF">2026-10-03T09:41:02.682Z</dcterms:modified>
</cp:coreProperties>
</file>