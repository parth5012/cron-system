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_rels/presentation.xml.rels" ContentType="application/vnd.openxmlformats-package.relationship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_rels/slide1.xml.rels" ContentType="application/vnd.openxmlformats-package.relationshi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F01256F-EF0C-4402-8077-424F5EFDFF46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61C39FC-B0DF-4FFB-8375-5058AE2A0080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F89DD4E-6FEC-4B6F-A976-4D6DE802AFD6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4F4A88B-9AE9-4D54-84DE-976A65BFA9DF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4000" strike="noStrike" u="non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3BE3F19-FDE5-485A-B11B-E652014BF189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6E45CCF-8716-4EA7-AC03-62214F4BC8F1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16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16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16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16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B23334D-3BAB-4FDA-9628-82B1E484DE04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2D00A83-4203-44B2-ADD3-E3BFB765EA43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251FE08-3C53-4281-8A9A-86358C8C2F0D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1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78D89CB-66AA-4D03-AAAD-EAC9F66B9852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1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65A01DE-F975-4F98-B279-F8D71154F822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6f8f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8" name="Rounded Rectangle 2"/>
          <p:cNvSpPr/>
          <p:nvPr/>
        </p:nvSpPr>
        <p:spPr>
          <a:xfrm>
            <a:off x="365760" y="109800"/>
            <a:ext cx="2011320" cy="566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8d4e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100" strike="noStrike" u="none">
                <a:solidFill>
                  <a:srgbClr val="0b2f64"/>
                </a:solidFill>
                <a:effectLst/>
                <a:uFillTx/>
                <a:latin typeface="Arial"/>
              </a:rPr>
              <a:t>Your Team Name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Box 3"/>
          <p:cNvSpPr/>
          <p:nvPr/>
        </p:nvSpPr>
        <p:spPr>
          <a:xfrm>
            <a:off x="2560320" y="54720"/>
            <a:ext cx="70405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900" strike="noStrike" u="none">
                <a:solidFill>
                  <a:srgbClr val="0b2f64"/>
                </a:solidFill>
                <a:effectLst/>
                <a:uFillTx/>
                <a:latin typeface="Arial"/>
              </a:rPr>
              <a:t>TECHNICAL APPROACH</a:t>
            </a:r>
            <a:endParaRPr b="0" lang="en-US" sz="1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000" strike="noStrike" u="none">
                <a:solidFill>
                  <a:srgbClr val="505a69"/>
                </a:solidFill>
                <a:effectLst/>
                <a:uFillTx/>
                <a:latin typeface="Arial"/>
              </a:rPr>
              <a:t>Technology Stack  |  System Architecture  |  Implementation  |  Working Prototype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Rounded Rectangle 4"/>
          <p:cNvSpPr/>
          <p:nvPr/>
        </p:nvSpPr>
        <p:spPr>
          <a:xfrm>
            <a:off x="9784080" y="109800"/>
            <a:ext cx="2011320" cy="566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8d4e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950" strike="noStrike" u="none">
                <a:solidFill>
                  <a:srgbClr val="0b2f64"/>
                </a:solidFill>
                <a:effectLst/>
                <a:uFillTx/>
                <a:latin typeface="Arial"/>
              </a:rPr>
              <a:t>SMART INDIA HACKATHON 2026</a:t>
            </a:r>
            <a:endParaRPr b="0" lang="en-US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800" strike="noStrike" u="none">
                <a:solidFill>
                  <a:srgbClr val="00a0eb"/>
                </a:solidFill>
                <a:effectLst/>
                <a:uFillTx/>
                <a:latin typeface="Arial"/>
              </a:rPr>
              <a:t>SIH 2026 OFFICIAL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Rounded Rectangle 5"/>
          <p:cNvSpPr/>
          <p:nvPr/>
        </p:nvSpPr>
        <p:spPr>
          <a:xfrm>
            <a:off x="365760" y="749880"/>
            <a:ext cx="1599840" cy="1243080"/>
          </a:xfrm>
          <a:prstGeom prst="roundRect">
            <a:avLst>
              <a:gd name="adj" fmla="val 16667"/>
            </a:avLst>
          </a:prstGeom>
          <a:solidFill>
            <a:srgbClr val="0b2f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TECH STACK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850" strike="noStrike" u="none">
                <a:solidFill>
                  <a:srgbClr val="bed7fa"/>
                </a:solidFill>
                <a:effectLst/>
                <a:uFillTx/>
                <a:latin typeface="Arial"/>
              </a:rPr>
              <a:t>Modern | Secure | Scalable</a:t>
            </a:r>
            <a:endParaRPr b="0" lang="en-US" sz="8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Rounded Rectangle 6"/>
          <p:cNvSpPr/>
          <p:nvPr/>
        </p:nvSpPr>
        <p:spPr>
          <a:xfrm>
            <a:off x="2057400" y="749880"/>
            <a:ext cx="1572480" cy="1243080"/>
          </a:xfrm>
          <a:prstGeom prst="roundRect">
            <a:avLst>
              <a:gd name="adj" fmla="val 16667"/>
            </a:avLst>
          </a:prstGeom>
          <a:solidFill>
            <a:srgbClr val="eef4ff"/>
          </a:solidFill>
          <a:ln w="12700">
            <a:solidFill>
              <a:srgbClr val="c8dcf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3" name="Rounded Rectangle 7"/>
          <p:cNvSpPr/>
          <p:nvPr/>
        </p:nvSpPr>
        <p:spPr>
          <a:xfrm>
            <a:off x="2130480" y="822960"/>
            <a:ext cx="1425960" cy="255600"/>
          </a:xfrm>
          <a:prstGeom prst="roundRect">
            <a:avLst>
              <a:gd name="adj" fmla="val 16667"/>
            </a:avLst>
          </a:prstGeom>
          <a:solidFill>
            <a:srgbClr val="3b82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85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Frontend</a:t>
            </a:r>
            <a:endParaRPr b="0" lang="en-US" sz="8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8"/>
          <p:cNvSpPr/>
          <p:nvPr/>
        </p:nvSpPr>
        <p:spPr>
          <a:xfrm>
            <a:off x="2112120" y="1097280"/>
            <a:ext cx="1462680" cy="85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  <a:spcAft>
                <a:spcPts val="150"/>
              </a:spcAft>
            </a:pPr>
            <a:r>
              <a:rPr b="0" lang="en-US" sz="800" strike="noStrike" u="none">
                <a:solidFill>
                  <a:srgbClr val="141923"/>
                </a:solidFill>
                <a:effectLst/>
                <a:uFillTx/>
                <a:latin typeface="Arial"/>
              </a:rPr>
              <a:t>- React.js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50"/>
              </a:spcAft>
            </a:pPr>
            <a:r>
              <a:rPr b="0" lang="en-US" sz="800" strike="noStrike" u="none">
                <a:solidFill>
                  <a:srgbClr val="141923"/>
                </a:solidFill>
                <a:effectLst/>
                <a:uFillTx/>
                <a:latin typeface="Arial"/>
              </a:rPr>
              <a:t>- Vite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50"/>
              </a:spcAft>
            </a:pPr>
            <a:r>
              <a:rPr b="0" lang="en-US" sz="800" strike="noStrike" u="none">
                <a:solidFill>
                  <a:srgbClr val="141923"/>
                </a:solidFill>
                <a:effectLst/>
                <a:uFillTx/>
                <a:latin typeface="Arial"/>
              </a:rPr>
              <a:t>- Tailwind CSS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50"/>
              </a:spcAft>
            </a:pPr>
            <a:r>
              <a:rPr b="0" lang="en-US" sz="800" strike="noStrike" u="none">
                <a:solidFill>
                  <a:srgbClr val="141923"/>
                </a:solidFill>
                <a:effectLst/>
                <a:uFillTx/>
                <a:latin typeface="Arial"/>
              </a:rPr>
              <a:t>- TypeScript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Rounded Rectangle 9"/>
          <p:cNvSpPr/>
          <p:nvPr/>
        </p:nvSpPr>
        <p:spPr>
          <a:xfrm>
            <a:off x="3712320" y="749880"/>
            <a:ext cx="1572480" cy="1243080"/>
          </a:xfrm>
          <a:prstGeom prst="roundRect">
            <a:avLst>
              <a:gd name="adj" fmla="val 16667"/>
            </a:avLst>
          </a:prstGeom>
          <a:solidFill>
            <a:srgbClr val="f5f0ff"/>
          </a:solidFill>
          <a:ln w="12700">
            <a:solidFill>
              <a:srgbClr val="e1d2f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6" name="Rounded Rectangle 10"/>
          <p:cNvSpPr/>
          <p:nvPr/>
        </p:nvSpPr>
        <p:spPr>
          <a:xfrm>
            <a:off x="3785760" y="822960"/>
            <a:ext cx="1425960" cy="255600"/>
          </a:xfrm>
          <a:prstGeom prst="roundRect">
            <a:avLst>
              <a:gd name="adj" fmla="val 16667"/>
            </a:avLst>
          </a:prstGeom>
          <a:solidFill>
            <a:srgbClr val="8b5c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85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Web3 Integration</a:t>
            </a:r>
            <a:endParaRPr b="0" lang="en-US" sz="8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11"/>
          <p:cNvSpPr/>
          <p:nvPr/>
        </p:nvSpPr>
        <p:spPr>
          <a:xfrm>
            <a:off x="3767400" y="1097280"/>
            <a:ext cx="1462680" cy="85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  <a:spcAft>
                <a:spcPts val="150"/>
              </a:spcAft>
            </a:pPr>
            <a:r>
              <a:rPr b="0" lang="en-US" sz="800" strike="noStrike" u="none">
                <a:solidFill>
                  <a:srgbClr val="141923"/>
                </a:solidFill>
                <a:effectLst/>
                <a:uFillTx/>
                <a:latin typeface="Arial"/>
              </a:rPr>
              <a:t>- Wagmi v2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50"/>
              </a:spcAft>
            </a:pPr>
            <a:r>
              <a:rPr b="0" lang="en-US" sz="800" strike="noStrike" u="none">
                <a:solidFill>
                  <a:srgbClr val="141923"/>
                </a:solidFill>
                <a:effectLst/>
                <a:uFillTx/>
                <a:latin typeface="Arial"/>
              </a:rPr>
              <a:t>- Viem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50"/>
              </a:spcAft>
            </a:pPr>
            <a:r>
              <a:rPr b="0" lang="en-US" sz="800" strike="noStrike" u="none">
                <a:solidFill>
                  <a:srgbClr val="141923"/>
                </a:solidFill>
                <a:effectLst/>
                <a:uFillTx/>
                <a:latin typeface="Arial"/>
              </a:rPr>
              <a:t>- MetaMask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Rounded Rectangle 12"/>
          <p:cNvSpPr/>
          <p:nvPr/>
        </p:nvSpPr>
        <p:spPr>
          <a:xfrm>
            <a:off x="5367600" y="749880"/>
            <a:ext cx="1572480" cy="1243080"/>
          </a:xfrm>
          <a:prstGeom prst="roundRect">
            <a:avLst>
              <a:gd name="adj" fmla="val 16667"/>
            </a:avLst>
          </a:prstGeom>
          <a:solidFill>
            <a:srgbClr val="ebfaf2"/>
          </a:solidFill>
          <a:ln w="12700">
            <a:solidFill>
              <a:srgbClr val="c3eed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9" name="Rounded Rectangle 13"/>
          <p:cNvSpPr/>
          <p:nvPr/>
        </p:nvSpPr>
        <p:spPr>
          <a:xfrm>
            <a:off x="5440680" y="822960"/>
            <a:ext cx="1425960" cy="255600"/>
          </a:xfrm>
          <a:prstGeom prst="roundRect">
            <a:avLst>
              <a:gd name="adj" fmla="val 16667"/>
            </a:avLst>
          </a:prstGeom>
          <a:solidFill>
            <a:srgbClr val="10b98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85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Smart Contracts</a:t>
            </a:r>
            <a:endParaRPr b="0" lang="en-US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14"/>
          <p:cNvSpPr/>
          <p:nvPr/>
        </p:nvSpPr>
        <p:spPr>
          <a:xfrm>
            <a:off x="5422320" y="1097280"/>
            <a:ext cx="1462680" cy="85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  <a:spcAft>
                <a:spcPts val="150"/>
              </a:spcAft>
            </a:pPr>
            <a:r>
              <a:rPr b="0" lang="en-US" sz="800" strike="noStrike" u="none">
                <a:solidFill>
                  <a:srgbClr val="141923"/>
                </a:solidFill>
                <a:effectLst/>
                <a:uFillTx/>
                <a:latin typeface="Arial"/>
              </a:rPr>
              <a:t>- Solidity ^0.8.20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50"/>
              </a:spcAft>
            </a:pPr>
            <a:r>
              <a:rPr b="0" lang="en-US" sz="800" strike="noStrike" u="none">
                <a:solidFill>
                  <a:srgbClr val="141923"/>
                </a:solidFill>
                <a:effectLst/>
                <a:uFillTx/>
                <a:latin typeface="Arial"/>
              </a:rPr>
              <a:t>- OpenZeppelin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50"/>
              </a:spcAft>
            </a:pPr>
            <a:r>
              <a:rPr b="0" lang="en-US" sz="800" strike="noStrike" u="none">
                <a:solidFill>
                  <a:srgbClr val="141923"/>
                </a:solidFill>
                <a:effectLst/>
                <a:uFillTx/>
                <a:latin typeface="Arial"/>
              </a:rPr>
              <a:t>- Foundry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Rounded Rectangle 15"/>
          <p:cNvSpPr/>
          <p:nvPr/>
        </p:nvSpPr>
        <p:spPr>
          <a:xfrm>
            <a:off x="7022520" y="749880"/>
            <a:ext cx="1572480" cy="1243080"/>
          </a:xfrm>
          <a:prstGeom prst="roundRect">
            <a:avLst>
              <a:gd name="adj" fmla="val 16667"/>
            </a:avLst>
          </a:prstGeom>
          <a:solidFill>
            <a:srgbClr val="fff9e8"/>
          </a:solidFill>
          <a:ln w="12700">
            <a:solidFill>
              <a:srgbClr val="faebb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2" name="Rounded Rectangle 16"/>
          <p:cNvSpPr/>
          <p:nvPr/>
        </p:nvSpPr>
        <p:spPr>
          <a:xfrm>
            <a:off x="7095600" y="822960"/>
            <a:ext cx="1425960" cy="255600"/>
          </a:xfrm>
          <a:prstGeom prst="roundRect">
            <a:avLst>
              <a:gd name="adj" fmla="val 16667"/>
            </a:avLst>
          </a:prstGeom>
          <a:solidFill>
            <a:srgbClr val="eab30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85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Blockchain</a:t>
            </a:r>
            <a:endParaRPr b="0" lang="en-US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17"/>
          <p:cNvSpPr/>
          <p:nvPr/>
        </p:nvSpPr>
        <p:spPr>
          <a:xfrm>
            <a:off x="7077600" y="1097280"/>
            <a:ext cx="1462680" cy="85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  <a:spcAft>
                <a:spcPts val="150"/>
              </a:spcAft>
            </a:pPr>
            <a:r>
              <a:rPr b="0" lang="en-US" sz="800" strike="noStrike" u="none">
                <a:solidFill>
                  <a:srgbClr val="141923"/>
                </a:solidFill>
                <a:effectLst/>
                <a:uFillTx/>
                <a:latin typeface="Arial"/>
              </a:rPr>
              <a:t>- Sepolia (Proto)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50"/>
              </a:spcAft>
            </a:pPr>
            <a:r>
              <a:rPr b="0" lang="en-US" sz="800" strike="noStrike" u="none">
                <a:solidFill>
                  <a:srgbClr val="141923"/>
                </a:solidFill>
                <a:effectLst/>
                <a:uFillTx/>
                <a:latin typeface="Arial"/>
              </a:rPr>
              <a:t>- Permissioned EVM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Rounded Rectangle 18"/>
          <p:cNvSpPr/>
          <p:nvPr/>
        </p:nvSpPr>
        <p:spPr>
          <a:xfrm>
            <a:off x="8677800" y="749880"/>
            <a:ext cx="1572480" cy="1243080"/>
          </a:xfrm>
          <a:prstGeom prst="roundRect">
            <a:avLst>
              <a:gd name="adj" fmla="val 16667"/>
            </a:avLst>
          </a:prstGeom>
          <a:solidFill>
            <a:srgbClr val="fff1f1"/>
          </a:solidFill>
          <a:ln w="12700">
            <a:solidFill>
              <a:srgbClr val="fad2d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5" name="Rounded Rectangle 19"/>
          <p:cNvSpPr/>
          <p:nvPr/>
        </p:nvSpPr>
        <p:spPr>
          <a:xfrm>
            <a:off x="8750880" y="822960"/>
            <a:ext cx="1425960" cy="255600"/>
          </a:xfrm>
          <a:prstGeom prst="roundRect">
            <a:avLst>
              <a:gd name="adj" fmla="val 16667"/>
            </a:avLst>
          </a:prstGeom>
          <a:solidFill>
            <a:srgbClr val="ef444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85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Storage &amp; Backend</a:t>
            </a:r>
            <a:endParaRPr b="0" lang="en-US" sz="8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20"/>
          <p:cNvSpPr/>
          <p:nvPr/>
        </p:nvSpPr>
        <p:spPr>
          <a:xfrm>
            <a:off x="8732520" y="1097280"/>
            <a:ext cx="1462680" cy="85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  <a:spcAft>
                <a:spcPts val="150"/>
              </a:spcAft>
            </a:pPr>
            <a:r>
              <a:rPr b="0" lang="en-US" sz="800" strike="noStrike" u="none">
                <a:solidFill>
                  <a:srgbClr val="141923"/>
                </a:solidFill>
                <a:effectLst/>
                <a:uFillTx/>
                <a:latin typeface="Arial"/>
              </a:rPr>
              <a:t>- IPFS &amp; Pinata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50"/>
              </a:spcAft>
            </a:pPr>
            <a:r>
              <a:rPr b="0" lang="en-US" sz="800" strike="noStrike" u="none">
                <a:solidFill>
                  <a:srgbClr val="141923"/>
                </a:solidFill>
                <a:effectLst/>
                <a:uFillTx/>
                <a:latin typeface="Arial"/>
              </a:rPr>
              <a:t>- PostgreSQL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50"/>
              </a:spcAft>
            </a:pPr>
            <a:r>
              <a:rPr b="0" lang="en-US" sz="800" strike="noStrike" u="none">
                <a:solidFill>
                  <a:srgbClr val="141923"/>
                </a:solidFill>
                <a:effectLst/>
                <a:uFillTx/>
                <a:latin typeface="Arial"/>
              </a:rPr>
              <a:t>- FastAPI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Rounded Rectangle 21"/>
          <p:cNvSpPr/>
          <p:nvPr/>
        </p:nvSpPr>
        <p:spPr>
          <a:xfrm>
            <a:off x="10332720" y="749880"/>
            <a:ext cx="1572480" cy="1243080"/>
          </a:xfrm>
          <a:prstGeom prst="roundRect">
            <a:avLst>
              <a:gd name="adj" fmla="val 16667"/>
            </a:avLst>
          </a:prstGeom>
          <a:solidFill>
            <a:srgbClr val="eef9ff"/>
          </a:solidFill>
          <a:ln w="12700">
            <a:solidFill>
              <a:srgbClr val="c3e8f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8" name="Rounded Rectangle 22"/>
          <p:cNvSpPr/>
          <p:nvPr/>
        </p:nvSpPr>
        <p:spPr>
          <a:xfrm>
            <a:off x="10405800" y="822960"/>
            <a:ext cx="1425960" cy="255600"/>
          </a:xfrm>
          <a:prstGeom prst="roundRect">
            <a:avLst>
              <a:gd name="adj" fmla="val 16667"/>
            </a:avLst>
          </a:prstGeom>
          <a:solidFill>
            <a:srgbClr val="0ea5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85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Security</a:t>
            </a:r>
            <a:endParaRPr b="0" lang="en-US" sz="8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" name="TextBox 23"/>
          <p:cNvSpPr/>
          <p:nvPr/>
        </p:nvSpPr>
        <p:spPr>
          <a:xfrm>
            <a:off x="10387440" y="1097280"/>
            <a:ext cx="1462680" cy="85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  <a:spcAft>
                <a:spcPts val="150"/>
              </a:spcAft>
            </a:pPr>
            <a:r>
              <a:rPr b="0" lang="en-US" sz="800" strike="noStrike" u="none">
                <a:solidFill>
                  <a:srgbClr val="141923"/>
                </a:solidFill>
                <a:effectLst/>
                <a:uFillTx/>
                <a:latin typeface="Arial"/>
              </a:rPr>
              <a:t>- AES-256-GCM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50"/>
              </a:spcAft>
            </a:pPr>
            <a:r>
              <a:rPr b="0" lang="en-US" sz="800" strike="noStrike" u="none">
                <a:solidFill>
                  <a:srgbClr val="141923"/>
                </a:solidFill>
                <a:effectLst/>
                <a:uFillTx/>
                <a:latin typeface="Arial"/>
              </a:rPr>
              <a:t>- Keccak-256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50"/>
              </a:spcAft>
            </a:pPr>
            <a:r>
              <a:rPr b="0" lang="en-US" sz="800" strike="noStrike" u="none">
                <a:solidFill>
                  <a:srgbClr val="141923"/>
                </a:solidFill>
                <a:effectLst/>
                <a:uFillTx/>
                <a:latin typeface="Arial"/>
              </a:rPr>
              <a:t>- Cryptographic Sigs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Rounded Rectangle 24"/>
          <p:cNvSpPr/>
          <p:nvPr/>
        </p:nvSpPr>
        <p:spPr>
          <a:xfrm>
            <a:off x="365760" y="2066400"/>
            <a:ext cx="1599840" cy="2395440"/>
          </a:xfrm>
          <a:prstGeom prst="roundRect">
            <a:avLst>
              <a:gd name="adj" fmla="val 16667"/>
            </a:avLst>
          </a:prstGeom>
          <a:solidFill>
            <a:srgbClr val="0b2f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1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SYSTEM ARCHITECTURE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br>
              <a:rPr sz="850"/>
            </a:br>
            <a:r>
              <a:rPr b="0" lang="en-US" sz="850" strike="noStrike" u="none">
                <a:solidFill>
                  <a:srgbClr val="bed7fa"/>
                </a:solidFill>
                <a:effectLst/>
                <a:uFillTx/>
                <a:latin typeface="Arial"/>
              </a:rPr>
              <a:t>Decentralized</a:t>
            </a:r>
            <a:br>
              <a:rPr sz="850"/>
            </a:br>
            <a:r>
              <a:rPr b="0" lang="en-US" sz="850" strike="noStrike" u="none">
                <a:solidFill>
                  <a:srgbClr val="bed7fa"/>
                </a:solidFill>
                <a:effectLst/>
                <a:uFillTx/>
                <a:latin typeface="Arial"/>
              </a:rPr>
              <a:t>Modular</a:t>
            </a:r>
            <a:br>
              <a:rPr sz="850"/>
            </a:br>
            <a:r>
              <a:rPr b="0" lang="en-US" sz="850" strike="noStrike" u="none">
                <a:solidFill>
                  <a:srgbClr val="bed7fa"/>
                </a:solidFill>
                <a:effectLst/>
                <a:uFillTx/>
                <a:latin typeface="Arial"/>
              </a:rPr>
              <a:t>Interoperable</a:t>
            </a:r>
            <a:endParaRPr b="0" lang="en-US" sz="8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Rounded Rectangle 25"/>
          <p:cNvSpPr/>
          <p:nvPr/>
        </p:nvSpPr>
        <p:spPr>
          <a:xfrm>
            <a:off x="2057400" y="2066400"/>
            <a:ext cx="1051200" cy="2395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dae2e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850" strike="noStrike" u="none">
                <a:solidFill>
                  <a:srgbClr val="0b2f64"/>
                </a:solidFill>
                <a:effectLst/>
                <a:uFillTx/>
                <a:latin typeface="Arial"/>
              </a:rPr>
              <a:t>Users / Orgs</a:t>
            </a:r>
            <a:endParaRPr b="0" lang="en-US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800" strike="noStrike" u="none">
                <a:solidFill>
                  <a:srgbClr val="505a69"/>
                </a:solidFill>
                <a:effectLst/>
                <a:uFillTx/>
                <a:latin typeface="Arial"/>
              </a:rPr>
              <a:t>- Admin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800" strike="noStrike" u="none">
                <a:solidFill>
                  <a:srgbClr val="505a69"/>
                </a:solidFill>
                <a:effectLst/>
                <a:uFillTx/>
                <a:latin typeface="Arial"/>
              </a:rPr>
              <a:t>- Manager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800" strike="noStrike" u="none">
                <a:solidFill>
                  <a:srgbClr val="505a69"/>
                </a:solidFill>
                <a:effectLst/>
                <a:uFillTx/>
                <a:latin typeface="Arial"/>
              </a:rPr>
              <a:t>- Auditor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800" strike="noStrike" u="none">
                <a:solidFill>
                  <a:srgbClr val="505a69"/>
                </a:solidFill>
                <a:effectLst/>
                <a:uFillTx/>
                <a:latin typeface="Arial"/>
              </a:rPr>
              <a:t>- User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Right Arrow 26"/>
          <p:cNvSpPr/>
          <p:nvPr/>
        </p:nvSpPr>
        <p:spPr>
          <a:xfrm>
            <a:off x="3136320" y="3117960"/>
            <a:ext cx="164160" cy="2282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a0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3" name="Rounded Rectangle 27"/>
          <p:cNvSpPr/>
          <p:nvPr/>
        </p:nvSpPr>
        <p:spPr>
          <a:xfrm>
            <a:off x="3328560" y="2066400"/>
            <a:ext cx="1096920" cy="1142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dae2e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850" strike="noStrike" u="none">
                <a:solidFill>
                  <a:srgbClr val="0b2f64"/>
                </a:solidFill>
                <a:effectLst/>
                <a:uFillTx/>
                <a:latin typeface="Arial"/>
              </a:rPr>
              <a:t>Frontend</a:t>
            </a:r>
            <a:endParaRPr b="0" lang="en-US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750" strike="noStrike" u="none">
                <a:solidFill>
                  <a:srgbClr val="505a69"/>
                </a:solidFill>
                <a:effectLst/>
                <a:uFillTx/>
                <a:latin typeface="Arial"/>
              </a:rPr>
              <a:t>React + Vite</a:t>
            </a:r>
            <a:br>
              <a:rPr sz="750"/>
            </a:br>
            <a:r>
              <a:rPr b="0" lang="en-US" sz="750" strike="noStrike" u="none">
                <a:solidFill>
                  <a:srgbClr val="505a69"/>
                </a:solidFill>
                <a:effectLst/>
                <a:uFillTx/>
                <a:latin typeface="Arial"/>
              </a:rPr>
              <a:t>Tailwind CSS</a:t>
            </a:r>
            <a:endParaRPr b="0" lang="en-US" sz="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Rounded Rectangle 28"/>
          <p:cNvSpPr/>
          <p:nvPr/>
        </p:nvSpPr>
        <p:spPr>
          <a:xfrm>
            <a:off x="3328560" y="3282840"/>
            <a:ext cx="1096920" cy="11793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dae2e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850" strike="noStrike" u="none">
                <a:solidFill>
                  <a:srgbClr val="0b2f64"/>
                </a:solidFill>
                <a:effectLst/>
                <a:uFillTx/>
                <a:latin typeface="Arial"/>
              </a:rPr>
              <a:t>Backend</a:t>
            </a:r>
            <a:endParaRPr b="0" lang="en-US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750" strike="noStrike" u="none">
                <a:solidFill>
                  <a:srgbClr val="505a69"/>
                </a:solidFill>
                <a:effectLst/>
                <a:uFillTx/>
                <a:latin typeface="Arial"/>
              </a:rPr>
              <a:t>FastAPI (APIs)</a:t>
            </a:r>
            <a:br>
              <a:rPr sz="750"/>
            </a:br>
            <a:r>
              <a:rPr b="0" lang="en-US" sz="750" strike="noStrike" u="none">
                <a:solidFill>
                  <a:srgbClr val="505a69"/>
                </a:solidFill>
                <a:effectLst/>
                <a:uFillTx/>
                <a:latin typeface="Arial"/>
              </a:rPr>
              <a:t>PostgreSQL</a:t>
            </a:r>
            <a:br>
              <a:rPr sz="750"/>
            </a:br>
            <a:r>
              <a:rPr b="0" lang="en-US" sz="750" strike="noStrike" u="none">
                <a:solidFill>
                  <a:srgbClr val="505a69"/>
                </a:solidFill>
                <a:effectLst/>
                <a:uFillTx/>
                <a:latin typeface="Arial"/>
              </a:rPr>
              <a:t>Auth &amp; Cache</a:t>
            </a:r>
            <a:endParaRPr b="0" lang="en-US" sz="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Right Arrow 29"/>
          <p:cNvSpPr/>
          <p:nvPr/>
        </p:nvSpPr>
        <p:spPr>
          <a:xfrm>
            <a:off x="4453200" y="3117960"/>
            <a:ext cx="164160" cy="2282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a0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6" name="Rounded Rectangle 30"/>
          <p:cNvSpPr/>
          <p:nvPr/>
        </p:nvSpPr>
        <p:spPr>
          <a:xfrm>
            <a:off x="4645080" y="2066400"/>
            <a:ext cx="2121120" cy="2395440"/>
          </a:xfrm>
          <a:prstGeom prst="roundRect">
            <a:avLst>
              <a:gd name="adj" fmla="val 16667"/>
            </a:avLst>
          </a:prstGeom>
          <a:solidFill>
            <a:srgbClr val="f8fafe"/>
          </a:solidFill>
          <a:ln w="19050">
            <a:solidFill>
              <a:srgbClr val="93c5f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7" name="TextBox 31"/>
          <p:cNvSpPr/>
          <p:nvPr/>
        </p:nvSpPr>
        <p:spPr>
          <a:xfrm>
            <a:off x="4681800" y="2103120"/>
            <a:ext cx="20480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850" strike="noStrike" u="none">
                <a:solidFill>
                  <a:srgbClr val="0b2f64"/>
                </a:solidFill>
                <a:effectLst/>
                <a:uFillTx/>
                <a:latin typeface="Arial"/>
              </a:rPr>
              <a:t>Blockchain (EVM)</a:t>
            </a:r>
            <a:endParaRPr b="0" lang="en-US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750" strike="noStrike" u="none">
                <a:solidFill>
                  <a:srgbClr val="505a69"/>
                </a:solidFill>
                <a:effectLst/>
                <a:uFillTx/>
                <a:latin typeface="Arial"/>
              </a:rPr>
              <a:t>Smart Contracts (Six Modules)</a:t>
            </a:r>
            <a:endParaRPr b="0" lang="en-US" sz="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Rounded Rectangle 32"/>
          <p:cNvSpPr/>
          <p:nvPr/>
        </p:nvSpPr>
        <p:spPr>
          <a:xfrm>
            <a:off x="4718160" y="2578680"/>
            <a:ext cx="950760" cy="4201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0ea5e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360" rIns="1836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700" strike="noStrike" u="none">
                <a:solidFill>
                  <a:srgbClr val="0ea5e9"/>
                </a:solidFill>
                <a:effectLst/>
                <a:uFillTx/>
                <a:latin typeface="Arial"/>
              </a:rPr>
              <a:t>IdentityRegistry</a:t>
            </a:r>
            <a:endParaRPr b="0" lang="en-US" sz="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Rounded Rectangle 33"/>
          <p:cNvSpPr/>
          <p:nvPr/>
        </p:nvSpPr>
        <p:spPr>
          <a:xfrm>
            <a:off x="5742360" y="2578680"/>
            <a:ext cx="950760" cy="4201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7c3ae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360" rIns="1836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700" strike="noStrike" u="none">
                <a:solidFill>
                  <a:srgbClr val="7c3aed"/>
                </a:solidFill>
                <a:effectLst/>
                <a:uFillTx/>
                <a:latin typeface="Arial"/>
              </a:rPr>
              <a:t>RolesAndPerms</a:t>
            </a:r>
            <a:endParaRPr b="0" lang="en-US" sz="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Rounded Rectangle 34"/>
          <p:cNvSpPr/>
          <p:nvPr/>
        </p:nvSpPr>
        <p:spPr>
          <a:xfrm>
            <a:off x="4718160" y="3072240"/>
            <a:ext cx="950760" cy="4201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16a34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360" rIns="1836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700" strike="noStrike" u="none">
                <a:solidFill>
                  <a:srgbClr val="16a34a"/>
                </a:solidFill>
                <a:effectLst/>
                <a:uFillTx/>
                <a:latin typeface="Arial"/>
              </a:rPr>
              <a:t>AssetNFT</a:t>
            </a:r>
            <a:endParaRPr b="0" lang="en-US" sz="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Rounded Rectangle 35"/>
          <p:cNvSpPr/>
          <p:nvPr/>
        </p:nvSpPr>
        <p:spPr>
          <a:xfrm>
            <a:off x="5742360" y="3072240"/>
            <a:ext cx="950760" cy="4201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9770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360" rIns="1836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700" strike="noStrike" u="none">
                <a:solidFill>
                  <a:srgbClr val="d97706"/>
                </a:solidFill>
                <a:effectLst/>
                <a:uFillTx/>
                <a:latin typeface="Arial"/>
              </a:rPr>
              <a:t>CredentialVault</a:t>
            </a:r>
            <a:endParaRPr b="0" lang="en-US" sz="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Rounded Rectangle 36"/>
          <p:cNvSpPr/>
          <p:nvPr/>
        </p:nvSpPr>
        <p:spPr>
          <a:xfrm>
            <a:off x="4718160" y="3566160"/>
            <a:ext cx="950760" cy="4201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b277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360" rIns="1836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700" strike="noStrike" u="none">
                <a:solidFill>
                  <a:srgbClr val="db2777"/>
                </a:solidFill>
                <a:effectLst/>
                <a:uFillTx/>
                <a:latin typeface="Arial"/>
              </a:rPr>
              <a:t>AssetBridge</a:t>
            </a:r>
            <a:endParaRPr b="0" lang="en-US" sz="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Rounded Rectangle 37"/>
          <p:cNvSpPr/>
          <p:nvPr/>
        </p:nvSpPr>
        <p:spPr>
          <a:xfrm>
            <a:off x="5742360" y="3566160"/>
            <a:ext cx="950760" cy="4201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4f46e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360" rIns="1836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700" strike="noStrike" u="none">
                <a:solidFill>
                  <a:srgbClr val="4f46e5"/>
                </a:solidFill>
                <a:effectLst/>
                <a:uFillTx/>
                <a:latin typeface="Arial"/>
              </a:rPr>
              <a:t>AuditLog</a:t>
            </a:r>
            <a:endParaRPr b="0" lang="en-US" sz="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Rounded Rectangle 38"/>
          <p:cNvSpPr/>
          <p:nvPr/>
        </p:nvSpPr>
        <p:spPr>
          <a:xfrm>
            <a:off x="4700160" y="4151520"/>
            <a:ext cx="2011320" cy="237240"/>
          </a:xfrm>
          <a:prstGeom prst="roundRect">
            <a:avLst>
              <a:gd name="adj" fmla="val 16667"/>
            </a:avLst>
          </a:prstGeom>
          <a:solidFill>
            <a:srgbClr val="dcebf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680" strike="noStrike" u="none">
                <a:solidFill>
                  <a:srgbClr val="0b2f64"/>
                </a:solidFill>
                <a:effectLst/>
                <a:uFillTx/>
                <a:latin typeface="Arial"/>
              </a:rPr>
              <a:t>Sepolia Proto | Permissioned EVM</a:t>
            </a:r>
            <a:endParaRPr b="0" lang="en-US" sz="6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Right Arrow 39"/>
          <p:cNvSpPr/>
          <p:nvPr/>
        </p:nvSpPr>
        <p:spPr>
          <a:xfrm>
            <a:off x="6793920" y="3117960"/>
            <a:ext cx="164160" cy="2282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a0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6" name="Rounded Rectangle 40"/>
          <p:cNvSpPr/>
          <p:nvPr/>
        </p:nvSpPr>
        <p:spPr>
          <a:xfrm>
            <a:off x="6986160" y="2066400"/>
            <a:ext cx="959760" cy="2395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dae2e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850" strike="noStrike" u="none">
                <a:solidFill>
                  <a:srgbClr val="0b2f64"/>
                </a:solidFill>
                <a:effectLst/>
                <a:uFillTx/>
                <a:latin typeface="Arial"/>
              </a:rPr>
              <a:t>Storage</a:t>
            </a:r>
            <a:endParaRPr b="0" lang="en-US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br>
              <a:rPr sz="750"/>
            </a:br>
            <a:r>
              <a:rPr b="0" lang="en-US" sz="750" strike="noStrike" u="none">
                <a:solidFill>
                  <a:srgbClr val="505a69"/>
                </a:solidFill>
                <a:effectLst/>
                <a:uFillTx/>
                <a:latin typeface="Arial"/>
              </a:rPr>
              <a:t>IPFS +</a:t>
            </a:r>
            <a:br>
              <a:rPr sz="750"/>
            </a:br>
            <a:r>
              <a:rPr b="0" lang="en-US" sz="750" strike="noStrike" u="none">
                <a:solidFill>
                  <a:srgbClr val="505a69"/>
                </a:solidFill>
                <a:effectLst/>
                <a:uFillTx/>
                <a:latin typeface="Arial"/>
              </a:rPr>
              <a:t>Pinata</a:t>
            </a:r>
            <a:br>
              <a:rPr sz="750"/>
            </a:br>
            <a:br>
              <a:rPr sz="750"/>
            </a:br>
            <a:r>
              <a:rPr b="0" lang="en-US" sz="750" strike="noStrike" u="none">
                <a:solidFill>
                  <a:srgbClr val="505a69"/>
                </a:solidFill>
                <a:effectLst/>
                <a:uFillTx/>
                <a:latin typeface="Arial"/>
              </a:rPr>
              <a:t>Encrypted</a:t>
            </a:r>
            <a:br>
              <a:rPr sz="750"/>
            </a:br>
            <a:r>
              <a:rPr b="0" lang="en-US" sz="750" strike="noStrike" u="none">
                <a:solidFill>
                  <a:srgbClr val="505a69"/>
                </a:solidFill>
                <a:effectLst/>
                <a:uFillTx/>
                <a:latin typeface="Arial"/>
              </a:rPr>
              <a:t>Off-Chain</a:t>
            </a:r>
            <a:br>
              <a:rPr sz="750"/>
            </a:br>
            <a:r>
              <a:rPr b="0" lang="en-US" sz="750" strike="noStrike" u="none">
                <a:solidFill>
                  <a:srgbClr val="505a69"/>
                </a:solidFill>
                <a:effectLst/>
                <a:uFillTx/>
                <a:latin typeface="Arial"/>
              </a:rPr>
              <a:t>Payloads</a:t>
            </a:r>
            <a:endParaRPr b="0" lang="en-US" sz="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Rounded Rectangle 41"/>
          <p:cNvSpPr/>
          <p:nvPr/>
        </p:nvSpPr>
        <p:spPr>
          <a:xfrm>
            <a:off x="8046720" y="2066400"/>
            <a:ext cx="3776040" cy="310680"/>
          </a:xfrm>
          <a:prstGeom prst="roundRect">
            <a:avLst>
              <a:gd name="adj" fmla="val 16667"/>
            </a:avLst>
          </a:prstGeom>
          <a:solidFill>
            <a:srgbClr val="0b2f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95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IMPLEMENTATION METHODOLOGY</a:t>
            </a:r>
            <a:endParaRPr b="0" lang="en-US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" name="Rounded Rectangle 42"/>
          <p:cNvSpPr/>
          <p:nvPr/>
        </p:nvSpPr>
        <p:spPr>
          <a:xfrm>
            <a:off x="8046720" y="2414160"/>
            <a:ext cx="3776040" cy="269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e1e8f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9" name="Rounded Rectangle 43"/>
          <p:cNvSpPr/>
          <p:nvPr/>
        </p:nvSpPr>
        <p:spPr>
          <a:xfrm>
            <a:off x="8092440" y="2450520"/>
            <a:ext cx="200880" cy="191520"/>
          </a:xfrm>
          <a:prstGeom prst="roundRect">
            <a:avLst>
              <a:gd name="adj" fmla="val 16667"/>
            </a:avLst>
          </a:prstGeom>
          <a:solidFill>
            <a:srgbClr val="0ea5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1</a:t>
            </a:r>
            <a:endParaRPr b="0" lang="en-US" sz="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Box 44"/>
          <p:cNvSpPr/>
          <p:nvPr/>
        </p:nvSpPr>
        <p:spPr>
          <a:xfrm>
            <a:off x="8339400" y="2414160"/>
            <a:ext cx="3456000" cy="26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90000" tIns="9000" bIns="9000" anchor="ctr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50" strike="noStrike" u="none">
                <a:solidFill>
                  <a:srgbClr val="141923"/>
                </a:solidFill>
                <a:effectLst/>
                <a:uFillTx/>
                <a:latin typeface="Arial"/>
              </a:rPr>
              <a:t>Identity Setup: </a:t>
            </a:r>
            <a:r>
              <a:rPr b="0" lang="en-US" sz="700" strike="noStrike" u="none">
                <a:solidFill>
                  <a:srgbClr val="505a69"/>
                </a:solidFill>
                <a:effectLst/>
                <a:uFillTx/>
                <a:latin typeface="Arial"/>
              </a:rPr>
              <a:t>User/Org creates blockchain-linked identity</a:t>
            </a:r>
            <a:endParaRPr b="0" lang="en-US" sz="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Rounded Rectangle 45"/>
          <p:cNvSpPr/>
          <p:nvPr/>
        </p:nvSpPr>
        <p:spPr>
          <a:xfrm>
            <a:off x="8046720" y="2706480"/>
            <a:ext cx="3776040" cy="269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e1e8f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2" name="Rounded Rectangle 46"/>
          <p:cNvSpPr/>
          <p:nvPr/>
        </p:nvSpPr>
        <p:spPr>
          <a:xfrm>
            <a:off x="8092440" y="2743200"/>
            <a:ext cx="200880" cy="191520"/>
          </a:xfrm>
          <a:prstGeom prst="roundRect">
            <a:avLst>
              <a:gd name="adj" fmla="val 16667"/>
            </a:avLst>
          </a:prstGeom>
          <a:solidFill>
            <a:srgbClr val="7c3ae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2</a:t>
            </a:r>
            <a:endParaRPr b="0" lang="en-US" sz="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Box 47"/>
          <p:cNvSpPr/>
          <p:nvPr/>
        </p:nvSpPr>
        <p:spPr>
          <a:xfrm>
            <a:off x="8339400" y="2706480"/>
            <a:ext cx="3456000" cy="26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90000" tIns="9000" bIns="9000" anchor="ctr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50" strike="noStrike" u="none">
                <a:solidFill>
                  <a:srgbClr val="141923"/>
                </a:solidFill>
                <a:effectLst/>
                <a:uFillTx/>
                <a:latin typeface="Arial"/>
              </a:rPr>
              <a:t>Role &amp; Permission: </a:t>
            </a:r>
            <a:r>
              <a:rPr b="0" lang="en-US" sz="700" strike="noStrike" u="none">
                <a:solidFill>
                  <a:srgbClr val="505a69"/>
                </a:solidFill>
                <a:effectLst/>
                <a:uFillTx/>
                <a:latin typeface="Arial"/>
              </a:rPr>
              <a:t>Assign roles (Admin | Manager | Auditor | User)</a:t>
            </a:r>
            <a:endParaRPr b="0" lang="en-US" sz="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Rounded Rectangle 48"/>
          <p:cNvSpPr/>
          <p:nvPr/>
        </p:nvSpPr>
        <p:spPr>
          <a:xfrm>
            <a:off x="8046720" y="2999160"/>
            <a:ext cx="3776040" cy="269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e1e8f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5" name="Rounded Rectangle 49"/>
          <p:cNvSpPr/>
          <p:nvPr/>
        </p:nvSpPr>
        <p:spPr>
          <a:xfrm>
            <a:off x="8092440" y="3035880"/>
            <a:ext cx="200880" cy="191520"/>
          </a:xfrm>
          <a:prstGeom prst="roundRect">
            <a:avLst>
              <a:gd name="adj" fmla="val 16667"/>
            </a:avLst>
          </a:prstGeom>
          <a:solidFill>
            <a:srgbClr val="16a3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3</a:t>
            </a:r>
            <a:endParaRPr b="0" lang="en-US" sz="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Box 50"/>
          <p:cNvSpPr/>
          <p:nvPr/>
        </p:nvSpPr>
        <p:spPr>
          <a:xfrm>
            <a:off x="8339400" y="2999160"/>
            <a:ext cx="3456000" cy="26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90000" tIns="9000" bIns="9000" anchor="ctr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50" strike="noStrike" u="none">
                <a:solidFill>
                  <a:srgbClr val="141923"/>
                </a:solidFill>
                <a:effectLst/>
                <a:uFillTx/>
                <a:latin typeface="Arial"/>
              </a:rPr>
              <a:t>Asset Registration: </a:t>
            </a:r>
            <a:r>
              <a:rPr b="0" lang="en-US" sz="700" strike="noStrike" u="none">
                <a:solidFill>
                  <a:srgbClr val="505a69"/>
                </a:solidFill>
                <a:effectLst/>
                <a:uFillTx/>
                <a:latin typeface="Arial"/>
              </a:rPr>
              <a:t>Register digital/physical assets (docs, devices)</a:t>
            </a:r>
            <a:endParaRPr b="0" lang="en-US" sz="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Rounded Rectangle 51"/>
          <p:cNvSpPr/>
          <p:nvPr/>
        </p:nvSpPr>
        <p:spPr>
          <a:xfrm>
            <a:off x="8046720" y="3291840"/>
            <a:ext cx="3776040" cy="269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e1e8f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" name="Rounded Rectangle 52"/>
          <p:cNvSpPr/>
          <p:nvPr/>
        </p:nvSpPr>
        <p:spPr>
          <a:xfrm>
            <a:off x="8092440" y="3328560"/>
            <a:ext cx="200880" cy="191520"/>
          </a:xfrm>
          <a:prstGeom prst="roundRect">
            <a:avLst>
              <a:gd name="adj" fmla="val 16667"/>
            </a:avLst>
          </a:prstGeom>
          <a:solidFill>
            <a:srgbClr val="d9770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4</a:t>
            </a:r>
            <a:endParaRPr b="0" lang="en-US" sz="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Box 53"/>
          <p:cNvSpPr/>
          <p:nvPr/>
        </p:nvSpPr>
        <p:spPr>
          <a:xfrm>
            <a:off x="8339400" y="3291840"/>
            <a:ext cx="3456000" cy="26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90000" tIns="9000" bIns="9000" anchor="ctr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50" strike="noStrike" u="none">
                <a:solidFill>
                  <a:srgbClr val="141923"/>
                </a:solidFill>
                <a:effectLst/>
                <a:uFillTx/>
                <a:latin typeface="Arial"/>
              </a:rPr>
              <a:t>NFT Minting / Linking: </a:t>
            </a:r>
            <a:r>
              <a:rPr b="0" lang="en-US" sz="700" strike="noStrike" u="none">
                <a:solidFill>
                  <a:srgbClr val="505a69"/>
                </a:solidFill>
                <a:effectLst/>
                <a:uFillTx/>
                <a:latin typeface="Arial"/>
              </a:rPr>
              <a:t>Mint NFT for asset and link credentials</a:t>
            </a:r>
            <a:endParaRPr b="0" lang="en-US" sz="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Rounded Rectangle 54"/>
          <p:cNvSpPr/>
          <p:nvPr/>
        </p:nvSpPr>
        <p:spPr>
          <a:xfrm>
            <a:off x="8046720" y="3584520"/>
            <a:ext cx="3776040" cy="269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e1e8f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" name="Rounded Rectangle 55"/>
          <p:cNvSpPr/>
          <p:nvPr/>
        </p:nvSpPr>
        <p:spPr>
          <a:xfrm>
            <a:off x="8092440" y="3620880"/>
            <a:ext cx="200880" cy="191520"/>
          </a:xfrm>
          <a:prstGeom prst="roundRect">
            <a:avLst>
              <a:gd name="adj" fmla="val 16667"/>
            </a:avLst>
          </a:prstGeom>
          <a:solidFill>
            <a:srgbClr val="db277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5</a:t>
            </a:r>
            <a:endParaRPr b="0" lang="en-US" sz="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Box 56"/>
          <p:cNvSpPr/>
          <p:nvPr/>
        </p:nvSpPr>
        <p:spPr>
          <a:xfrm>
            <a:off x="8339400" y="3584520"/>
            <a:ext cx="3456000" cy="26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90000" tIns="9000" bIns="9000" anchor="ctr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50" strike="noStrike" u="none">
                <a:solidFill>
                  <a:srgbClr val="141923"/>
                </a:solidFill>
                <a:effectLst/>
                <a:uFillTx/>
                <a:latin typeface="Arial"/>
              </a:rPr>
              <a:t>Assign / Transfer: </a:t>
            </a:r>
            <a:r>
              <a:rPr b="0" lang="en-US" sz="700" strike="noStrike" u="none">
                <a:solidFill>
                  <a:srgbClr val="505a69"/>
                </a:solidFill>
                <a:effectLst/>
                <a:uFillTx/>
                <a:latin typeface="Arial"/>
              </a:rPr>
              <a:t>Secure assignment and ownership transfer</a:t>
            </a:r>
            <a:endParaRPr b="0" lang="en-US" sz="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Rounded Rectangle 57"/>
          <p:cNvSpPr/>
          <p:nvPr/>
        </p:nvSpPr>
        <p:spPr>
          <a:xfrm>
            <a:off x="8046720" y="3877200"/>
            <a:ext cx="3776040" cy="269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e1e8f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" name="Rounded Rectangle 58"/>
          <p:cNvSpPr/>
          <p:nvPr/>
        </p:nvSpPr>
        <p:spPr>
          <a:xfrm>
            <a:off x="8092440" y="3913560"/>
            <a:ext cx="200880" cy="191520"/>
          </a:xfrm>
          <a:prstGeom prst="roundRect">
            <a:avLst>
              <a:gd name="adj" fmla="val 16667"/>
            </a:avLst>
          </a:prstGeom>
          <a:solidFill>
            <a:srgbClr val="4f46e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6</a:t>
            </a:r>
            <a:endParaRPr b="0" lang="en-US" sz="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Box 59"/>
          <p:cNvSpPr/>
          <p:nvPr/>
        </p:nvSpPr>
        <p:spPr>
          <a:xfrm>
            <a:off x="8339400" y="3877200"/>
            <a:ext cx="3456000" cy="26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90000" tIns="9000" bIns="9000" anchor="ctr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50" strike="noStrike" u="none">
                <a:solidFill>
                  <a:srgbClr val="141923"/>
                </a:solidFill>
                <a:effectLst/>
                <a:uFillTx/>
                <a:latin typeface="Arial"/>
              </a:rPr>
              <a:t>Blockchain Audit: </a:t>
            </a:r>
            <a:r>
              <a:rPr b="0" lang="en-US" sz="700" strike="noStrike" u="none">
                <a:solidFill>
                  <a:srgbClr val="505a69"/>
                </a:solidFill>
                <a:effectLst/>
                <a:uFillTx/>
                <a:latin typeface="Arial"/>
              </a:rPr>
              <a:t>All actions recorded immutably on-chain</a:t>
            </a:r>
            <a:endParaRPr b="0" lang="en-US" sz="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Rounded Rectangle 60"/>
          <p:cNvSpPr/>
          <p:nvPr/>
        </p:nvSpPr>
        <p:spPr>
          <a:xfrm>
            <a:off x="8046720" y="4169520"/>
            <a:ext cx="3776040" cy="269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e1e8f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" name="Rounded Rectangle 61"/>
          <p:cNvSpPr/>
          <p:nvPr/>
        </p:nvSpPr>
        <p:spPr>
          <a:xfrm>
            <a:off x="8092440" y="4206240"/>
            <a:ext cx="200880" cy="191520"/>
          </a:xfrm>
          <a:prstGeom prst="roundRect">
            <a:avLst>
              <a:gd name="adj" fmla="val 16667"/>
            </a:avLst>
          </a:prstGeom>
          <a:solidFill>
            <a:srgbClr val="10b98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7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Box 62"/>
          <p:cNvSpPr/>
          <p:nvPr/>
        </p:nvSpPr>
        <p:spPr>
          <a:xfrm>
            <a:off x="8339400" y="4169520"/>
            <a:ext cx="3456000" cy="26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90000" tIns="9000" bIns="9000" anchor="ctr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50" strike="noStrike" u="none">
                <a:solidFill>
                  <a:srgbClr val="141923"/>
                </a:solidFill>
                <a:effectLst/>
                <a:uFillTx/>
                <a:latin typeface="Arial"/>
              </a:rPr>
              <a:t>Verification: </a:t>
            </a:r>
            <a:r>
              <a:rPr b="0" lang="en-US" sz="700" strike="noStrike" u="none">
                <a:solidFill>
                  <a:srgbClr val="505a69"/>
                </a:solidFill>
                <a:effectLst/>
                <a:uFillTx/>
                <a:latin typeface="Arial"/>
              </a:rPr>
              <a:t>Independent &amp; real-time verification by authorized parties</a:t>
            </a:r>
            <a:endParaRPr b="0" lang="en-US" sz="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Rounded Rectangle 63"/>
          <p:cNvSpPr/>
          <p:nvPr/>
        </p:nvSpPr>
        <p:spPr>
          <a:xfrm>
            <a:off x="365760" y="4535280"/>
            <a:ext cx="1599840" cy="1883160"/>
          </a:xfrm>
          <a:prstGeom prst="roundRect">
            <a:avLst>
              <a:gd name="adj" fmla="val 16667"/>
            </a:avLst>
          </a:prstGeom>
          <a:solidFill>
            <a:srgbClr val="0b2f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95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WORKING PROTOTYPE</a:t>
            </a:r>
            <a:endParaRPr b="0" lang="en-US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750" strike="noStrike" u="none">
                <a:solidFill>
                  <a:srgbClr val="bed7fa"/>
                </a:solidFill>
                <a:effectLst/>
                <a:uFillTx/>
                <a:latin typeface="Arial"/>
              </a:rPr>
              <a:t>Live Demo on Sepolia</a:t>
            </a:r>
            <a:endParaRPr b="0" lang="en-US" sz="7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" name="Rounded Rectangle 64"/>
          <p:cNvSpPr/>
          <p:nvPr/>
        </p:nvSpPr>
        <p:spPr>
          <a:xfrm>
            <a:off x="621720" y="5193720"/>
            <a:ext cx="1078560" cy="10785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c8d7e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750" strike="noStrike" u="none">
                <a:solidFill>
                  <a:srgbClr val="0b2f64"/>
                </a:solidFill>
                <a:effectLst/>
                <a:uFillTx/>
                <a:latin typeface="Arial"/>
              </a:rPr>
              <a:t>Scan QR</a:t>
            </a:r>
            <a:br>
              <a:rPr sz="750"/>
            </a:br>
            <a:r>
              <a:rPr b="1" lang="en-US" sz="750" strike="noStrike" u="none">
                <a:solidFill>
                  <a:srgbClr val="0b2f64"/>
                </a:solidFill>
                <a:effectLst/>
                <a:uFillTx/>
                <a:latin typeface="Arial"/>
              </a:rPr>
              <a:t>Try Demo</a:t>
            </a:r>
            <a:endParaRPr b="0" lang="en-US" sz="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Rounded Rectangle 65"/>
          <p:cNvSpPr/>
          <p:nvPr/>
        </p:nvSpPr>
        <p:spPr>
          <a:xfrm>
            <a:off x="2057400" y="4535280"/>
            <a:ext cx="2404440" cy="18831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2e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" name="Rounded Rectangle 66"/>
          <p:cNvSpPr/>
          <p:nvPr/>
        </p:nvSpPr>
        <p:spPr>
          <a:xfrm>
            <a:off x="2112120" y="4590360"/>
            <a:ext cx="2294640" cy="27396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850" strike="noStrike" u="none">
                <a:solidFill>
                  <a:srgbClr val="0b2f64"/>
                </a:solidFill>
                <a:effectLst/>
                <a:uFillTx/>
                <a:latin typeface="Arial"/>
              </a:rPr>
              <a:t>1. Dashboard</a:t>
            </a:r>
            <a:endParaRPr b="0" lang="en-US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Rounded Rectangle 67"/>
          <p:cNvSpPr/>
          <p:nvPr/>
        </p:nvSpPr>
        <p:spPr>
          <a:xfrm>
            <a:off x="2112120" y="4901040"/>
            <a:ext cx="2294640" cy="1051200"/>
          </a:xfrm>
          <a:prstGeom prst="roundRect">
            <a:avLst>
              <a:gd name="adj" fmla="val 16667"/>
            </a:avLst>
          </a:prstGeom>
          <a:solidFill>
            <a:srgbClr val="f8fafe"/>
          </a:solidFill>
          <a:ln>
            <a:solidFill>
              <a:srgbClr val="dce6f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rIns="54720" tIns="45000" bIns="36720" anchor="ctr">
            <a:noAutofit/>
          </a:bodyPr>
          <a:p>
            <a:pPr algn="ctr" defTabSz="457200">
              <a:lnSpc>
                <a:spcPct val="100000"/>
              </a:lnSpc>
              <a:spcAft>
                <a:spcPts val="201"/>
              </a:spcAft>
            </a:pPr>
            <a:r>
              <a:rPr b="1" lang="en-US" sz="750" strike="noStrike" u="none">
                <a:solidFill>
                  <a:srgbClr val="00a0eb"/>
                </a:solidFill>
                <a:effectLst/>
                <a:uFillTx/>
                <a:latin typeface="Arial"/>
              </a:rPr>
              <a:t>[Live Overview]</a:t>
            </a:r>
            <a:endParaRPr b="0" lang="en-US" sz="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700" strike="noStrike" u="none">
                <a:solidFill>
                  <a:srgbClr val="141923"/>
                </a:solidFill>
                <a:effectLst/>
                <a:uFillTx/>
                <a:latin typeface="Arial"/>
              </a:rPr>
              <a:t>- 24 Verified Assets</a:t>
            </a:r>
            <a:endParaRPr b="0" lang="en-US" sz="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700" strike="noStrike" u="none">
                <a:solidFill>
                  <a:srgbClr val="141923"/>
                </a:solidFill>
                <a:effectLst/>
                <a:uFillTx/>
                <a:latin typeface="Arial"/>
              </a:rPr>
              <a:t>- 100% On-Chain Audit</a:t>
            </a:r>
            <a:endParaRPr b="0" lang="en-US" sz="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700" strike="noStrike" u="none">
                <a:solidFill>
                  <a:srgbClr val="141923"/>
                </a:solidFill>
                <a:effectLst/>
                <a:uFillTx/>
                <a:latin typeface="Arial"/>
              </a:rPr>
              <a:t>- Active Role: Admin</a:t>
            </a:r>
            <a:endParaRPr b="0" lang="en-US" sz="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Box 68"/>
          <p:cNvSpPr/>
          <p:nvPr/>
        </p:nvSpPr>
        <p:spPr>
          <a:xfrm>
            <a:off x="2112120" y="5980320"/>
            <a:ext cx="22946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trike="noStrike" u="none">
                <a:solidFill>
                  <a:srgbClr val="505a69"/>
                </a:solidFill>
                <a:effectLst/>
                <a:uFillTx/>
                <a:latin typeface="Arial"/>
              </a:rPr>
              <a:t>Overview of assets, credentials and activity</a:t>
            </a:r>
            <a:endParaRPr b="0" lang="en-US" sz="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Rounded Rectangle 69"/>
          <p:cNvSpPr/>
          <p:nvPr/>
        </p:nvSpPr>
        <p:spPr>
          <a:xfrm>
            <a:off x="4572000" y="4535280"/>
            <a:ext cx="2404440" cy="18831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2e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" name="Rounded Rectangle 70"/>
          <p:cNvSpPr/>
          <p:nvPr/>
        </p:nvSpPr>
        <p:spPr>
          <a:xfrm>
            <a:off x="4626720" y="4590360"/>
            <a:ext cx="2294640" cy="27396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850" strike="noStrike" u="none">
                <a:solidFill>
                  <a:srgbClr val="0b2f64"/>
                </a:solidFill>
                <a:effectLst/>
                <a:uFillTx/>
                <a:latin typeface="Arial"/>
              </a:rPr>
              <a:t>2. Asset Details</a:t>
            </a:r>
            <a:endParaRPr b="0" lang="en-US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Rounded Rectangle 71"/>
          <p:cNvSpPr/>
          <p:nvPr/>
        </p:nvSpPr>
        <p:spPr>
          <a:xfrm>
            <a:off x="4626720" y="4901040"/>
            <a:ext cx="2294640" cy="1051200"/>
          </a:xfrm>
          <a:prstGeom prst="roundRect">
            <a:avLst>
              <a:gd name="adj" fmla="val 16667"/>
            </a:avLst>
          </a:prstGeom>
          <a:solidFill>
            <a:srgbClr val="f8fafe"/>
          </a:solidFill>
          <a:ln>
            <a:solidFill>
              <a:srgbClr val="dce6f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rIns="54720" tIns="45000" bIns="36720" anchor="ctr">
            <a:noAutofit/>
          </a:bodyPr>
          <a:p>
            <a:pPr algn="ctr" defTabSz="457200">
              <a:lnSpc>
                <a:spcPct val="100000"/>
              </a:lnSpc>
              <a:spcAft>
                <a:spcPts val="201"/>
              </a:spcAft>
            </a:pPr>
            <a:r>
              <a:rPr b="1" lang="en-US" sz="750" strike="noStrike" u="none">
                <a:solidFill>
                  <a:srgbClr val="00a0eb"/>
                </a:solidFill>
                <a:effectLst/>
                <a:uFillTx/>
                <a:latin typeface="Arial"/>
              </a:rPr>
              <a:t>[NFT Token #1042]</a:t>
            </a:r>
            <a:endParaRPr b="0" lang="en-US" sz="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700" strike="noStrike" u="none">
                <a:solidFill>
                  <a:srgbClr val="141923"/>
                </a:solidFill>
                <a:effectLst/>
                <a:uFillTx/>
                <a:latin typeface="Arial"/>
              </a:rPr>
              <a:t>- Laptop - Dell XPS 13</a:t>
            </a:r>
            <a:endParaRPr b="0" lang="en-US" sz="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700" strike="noStrike" u="none">
                <a:solidFill>
                  <a:srgbClr val="141923"/>
                </a:solidFill>
                <a:effectLst/>
                <a:uFillTx/>
                <a:latin typeface="Arial"/>
              </a:rPr>
              <a:t>- Owner: Finance Dept</a:t>
            </a:r>
            <a:endParaRPr b="0" lang="en-US" sz="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700" strike="noStrike" u="none">
                <a:solidFill>
                  <a:srgbClr val="141923"/>
                </a:solidFill>
                <a:effectLst/>
                <a:uFillTx/>
                <a:latin typeface="Arial"/>
              </a:rPr>
              <a:t>- Status: Minted &amp; Verified</a:t>
            </a:r>
            <a:endParaRPr b="0" lang="en-US" sz="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Box 72"/>
          <p:cNvSpPr/>
          <p:nvPr/>
        </p:nvSpPr>
        <p:spPr>
          <a:xfrm>
            <a:off x="4626720" y="5980320"/>
            <a:ext cx="22946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trike="noStrike" u="none">
                <a:solidFill>
                  <a:srgbClr val="505a69"/>
                </a:solidFill>
                <a:effectLst/>
                <a:uFillTx/>
                <a:latin typeface="Arial"/>
              </a:rPr>
              <a:t>View NFT asset information &amp; metadata</a:t>
            </a:r>
            <a:endParaRPr b="0" lang="en-US" sz="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Rounded Rectangle 73"/>
          <p:cNvSpPr/>
          <p:nvPr/>
        </p:nvSpPr>
        <p:spPr>
          <a:xfrm>
            <a:off x="7086600" y="4535280"/>
            <a:ext cx="2404440" cy="18831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2e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" name="Rounded Rectangle 74"/>
          <p:cNvSpPr/>
          <p:nvPr/>
        </p:nvSpPr>
        <p:spPr>
          <a:xfrm>
            <a:off x="7141320" y="4590360"/>
            <a:ext cx="2294640" cy="27396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850" strike="noStrike" u="none">
                <a:solidFill>
                  <a:srgbClr val="0b2f64"/>
                </a:solidFill>
                <a:effectLst/>
                <a:uFillTx/>
                <a:latin typeface="Arial"/>
              </a:rPr>
              <a:t>3. Credential Verification</a:t>
            </a:r>
            <a:endParaRPr b="0" lang="en-US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Rounded Rectangle 75"/>
          <p:cNvSpPr/>
          <p:nvPr/>
        </p:nvSpPr>
        <p:spPr>
          <a:xfrm>
            <a:off x="7141320" y="4901040"/>
            <a:ext cx="2294640" cy="1051200"/>
          </a:xfrm>
          <a:prstGeom prst="roundRect">
            <a:avLst>
              <a:gd name="adj" fmla="val 16667"/>
            </a:avLst>
          </a:prstGeom>
          <a:solidFill>
            <a:srgbClr val="f8fafe"/>
          </a:solidFill>
          <a:ln>
            <a:solidFill>
              <a:srgbClr val="dce6f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rIns="54720" tIns="45000" bIns="36720" anchor="ctr">
            <a:noAutofit/>
          </a:bodyPr>
          <a:p>
            <a:pPr algn="ctr" defTabSz="457200">
              <a:lnSpc>
                <a:spcPct val="100000"/>
              </a:lnSpc>
              <a:spcAft>
                <a:spcPts val="201"/>
              </a:spcAft>
            </a:pPr>
            <a:r>
              <a:rPr b="1" lang="en-US" sz="750" strike="noStrike" u="none">
                <a:solidFill>
                  <a:srgbClr val="00a0eb"/>
                </a:solidFill>
                <a:effectLst/>
                <a:uFillTx/>
                <a:latin typeface="Arial"/>
              </a:rPr>
              <a:t>[Verification Engine]</a:t>
            </a:r>
            <a:endParaRPr b="0" lang="en-US" sz="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700" strike="noStrike" u="none">
                <a:solidFill>
                  <a:srgbClr val="141923"/>
                </a:solidFill>
                <a:effectLst/>
                <a:uFillTx/>
                <a:latin typeface="Arial"/>
              </a:rPr>
              <a:t>- Zero-Knowledge Proof</a:t>
            </a:r>
            <a:endParaRPr b="0" lang="en-US" sz="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700" strike="noStrike" u="none">
                <a:solidFill>
                  <a:srgbClr val="141923"/>
                </a:solidFill>
                <a:effectLst/>
                <a:uFillTx/>
                <a:latin typeface="Arial"/>
              </a:rPr>
              <a:t>- Keccak-256 Validated</a:t>
            </a:r>
            <a:endParaRPr b="0" lang="en-US" sz="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700" strike="noStrike" u="none">
                <a:solidFill>
                  <a:srgbClr val="141923"/>
                </a:solidFill>
                <a:effectLst/>
                <a:uFillTx/>
                <a:latin typeface="Arial"/>
              </a:rPr>
              <a:t>- Status: 100% Authentic</a:t>
            </a:r>
            <a:endParaRPr b="0" lang="en-US" sz="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Box 76"/>
          <p:cNvSpPr/>
          <p:nvPr/>
        </p:nvSpPr>
        <p:spPr>
          <a:xfrm>
            <a:off x="7141320" y="5980320"/>
            <a:ext cx="22946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trike="noStrike" u="none">
                <a:solidFill>
                  <a:srgbClr val="505a69"/>
                </a:solidFill>
                <a:effectLst/>
                <a:uFillTx/>
                <a:latin typeface="Arial"/>
              </a:rPr>
              <a:t>Upload and verify certificates/documents</a:t>
            </a:r>
            <a:endParaRPr b="0" lang="en-US" sz="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Rounded Rectangle 77"/>
          <p:cNvSpPr/>
          <p:nvPr/>
        </p:nvSpPr>
        <p:spPr>
          <a:xfrm>
            <a:off x="9601200" y="4535280"/>
            <a:ext cx="2404440" cy="18831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2e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" name="Rounded Rectangle 78"/>
          <p:cNvSpPr/>
          <p:nvPr/>
        </p:nvSpPr>
        <p:spPr>
          <a:xfrm>
            <a:off x="9655920" y="4590360"/>
            <a:ext cx="2294640" cy="27396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850" strike="noStrike" u="none">
                <a:solidFill>
                  <a:srgbClr val="0b2f64"/>
                </a:solidFill>
                <a:effectLst/>
                <a:uFillTx/>
                <a:latin typeface="Arial"/>
              </a:rPr>
              <a:t>4. Blockchain Explorer</a:t>
            </a:r>
            <a:endParaRPr b="0" lang="en-US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Rounded Rectangle 79"/>
          <p:cNvSpPr/>
          <p:nvPr/>
        </p:nvSpPr>
        <p:spPr>
          <a:xfrm>
            <a:off x="9655920" y="4901040"/>
            <a:ext cx="2294640" cy="1051200"/>
          </a:xfrm>
          <a:prstGeom prst="roundRect">
            <a:avLst>
              <a:gd name="adj" fmla="val 16667"/>
            </a:avLst>
          </a:prstGeom>
          <a:solidFill>
            <a:srgbClr val="f8fafe"/>
          </a:solidFill>
          <a:ln>
            <a:solidFill>
              <a:srgbClr val="dce6f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rIns="54720" tIns="45000" bIns="36720" anchor="ctr">
            <a:noAutofit/>
          </a:bodyPr>
          <a:p>
            <a:pPr algn="ctr" defTabSz="457200">
              <a:lnSpc>
                <a:spcPct val="100000"/>
              </a:lnSpc>
              <a:spcAft>
                <a:spcPts val="201"/>
              </a:spcAft>
            </a:pPr>
            <a:r>
              <a:rPr b="1" lang="en-US" sz="750" strike="noStrike" u="none">
                <a:solidFill>
                  <a:srgbClr val="00a0eb"/>
                </a:solidFill>
                <a:effectLst/>
                <a:uFillTx/>
                <a:latin typeface="Arial"/>
              </a:rPr>
              <a:t>[Sepolia Explorer]</a:t>
            </a:r>
            <a:endParaRPr b="0" lang="en-US" sz="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700" strike="noStrike" u="none">
                <a:solidFill>
                  <a:srgbClr val="141923"/>
                </a:solidFill>
                <a:effectLst/>
                <a:uFillTx/>
                <a:latin typeface="Arial"/>
              </a:rPr>
              <a:t>- Tx: 0x8f4b...39a1</a:t>
            </a:r>
            <a:endParaRPr b="0" lang="en-US" sz="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700" strike="noStrike" u="none">
                <a:solidFill>
                  <a:srgbClr val="141923"/>
                </a:solidFill>
                <a:effectLst/>
                <a:uFillTx/>
                <a:latin typeface="Arial"/>
              </a:rPr>
              <a:t>- Gas Used: 42,150</a:t>
            </a:r>
            <a:endParaRPr b="0" lang="en-US" sz="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700" strike="noStrike" u="none">
                <a:solidFill>
                  <a:srgbClr val="141923"/>
                </a:solidFill>
                <a:effectLst/>
                <a:uFillTx/>
                <a:latin typeface="Arial"/>
              </a:rPr>
              <a:t>- Confirmed in Block #4812</a:t>
            </a:r>
            <a:endParaRPr b="0" lang="en-US" sz="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Box 80"/>
          <p:cNvSpPr/>
          <p:nvPr/>
        </p:nvSpPr>
        <p:spPr>
          <a:xfrm>
            <a:off x="9655920" y="5980320"/>
            <a:ext cx="22946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trike="noStrike" u="none">
                <a:solidFill>
                  <a:srgbClr val="505a69"/>
                </a:solidFill>
                <a:effectLst/>
                <a:uFillTx/>
                <a:latin typeface="Arial"/>
              </a:rPr>
              <a:t>On-chain transaction &amp; hash logs</a:t>
            </a:r>
            <a:endParaRPr b="0" lang="en-US" sz="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Rectangle 81"/>
          <p:cNvSpPr/>
          <p:nvPr/>
        </p:nvSpPr>
        <p:spPr>
          <a:xfrm>
            <a:off x="0" y="6510600"/>
            <a:ext cx="12191400" cy="347040"/>
          </a:xfrm>
          <a:prstGeom prst="rect">
            <a:avLst/>
          </a:prstGeom>
          <a:solidFill>
            <a:srgbClr val="0b2f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" name="TextBox 82"/>
          <p:cNvSpPr/>
          <p:nvPr/>
        </p:nvSpPr>
        <p:spPr>
          <a:xfrm>
            <a:off x="457200" y="6528960"/>
            <a:ext cx="50288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trike="noStrike" u="none">
                <a:solidFill>
                  <a:srgbClr val="dcebff"/>
                </a:solidFill>
                <a:effectLst/>
                <a:uFillTx/>
                <a:latin typeface="Arial"/>
              </a:rPr>
              <a:t>Secure Identities | Transparent Assets | Trusted Tomorrow</a:t>
            </a:r>
            <a:endParaRPr b="0" lang="en-US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Box 83"/>
          <p:cNvSpPr/>
          <p:nvPr/>
        </p:nvSpPr>
        <p:spPr>
          <a:xfrm>
            <a:off x="4572000" y="6528960"/>
            <a:ext cx="41144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85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#SIH2026  |  #SecureLedgerPlus</a:t>
            </a:r>
            <a:endParaRPr b="0" lang="en-US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Box 84"/>
          <p:cNvSpPr/>
          <p:nvPr/>
        </p:nvSpPr>
        <p:spPr>
          <a:xfrm>
            <a:off x="10515600" y="6528960"/>
            <a:ext cx="11883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 anchorCtr="1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95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4</a:t>
            </a:r>
            <a:endParaRPr b="0" lang="en-US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Application>LibreOffice/25.2.3.2$Linux_X86_64 LibreOffice_project/520$Build-2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>Steve Canny</cp:lastModifiedBy>
  <dcterms:modified xsi:type="dcterms:W3CDTF">2013-01-27T09:15:58Z</dcterms:modified>
  <cp:revision>1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