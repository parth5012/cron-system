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109728"/>
            <a:ext cx="20116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B2F64"/>
                </a:solidFill>
                <a:latin typeface="Arial"/>
              </a:defRPr>
            </a:pPr>
            <a:r>
              <a:t>Your Team 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54864"/>
            <a:ext cx="7040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0B2F64"/>
                </a:solidFill>
                <a:latin typeface="Arial"/>
              </a:defRPr>
            </a:pPr>
            <a:r>
              <a:t>TECHNICAL APPROACH</a:t>
            </a:r>
          </a:p>
          <a:p>
            <a:pPr algn="ctr">
              <a:defRPr sz="1000" b="0">
                <a:solidFill>
                  <a:srgbClr val="505A69"/>
                </a:solidFill>
                <a:latin typeface="Arial"/>
              </a:defRPr>
            </a:pPr>
            <a:r>
              <a:t>Technology Stack  |  System Architecture  |  Implementation  |  Working Prototype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109728"/>
            <a:ext cx="20116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B2F64"/>
                </a:solidFill>
                <a:latin typeface="Arial"/>
              </a:defRPr>
            </a:pPr>
            <a:r>
              <a:t>SMART INDIA HACKATHON 2026</a:t>
            </a:r>
          </a:p>
          <a:p>
            <a:pPr algn="ctr">
              <a:defRPr sz="800">
                <a:solidFill>
                  <a:srgbClr val="00A0EB"/>
                </a:solidFill>
                <a:latin typeface="Arial"/>
              </a:defRPr>
            </a:pPr>
            <a:r>
              <a:t>SIH 2026 OFFICIAL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749808"/>
            <a:ext cx="1600200" cy="1243584"/>
          </a:xfrm>
          <a:prstGeom prst="roundRect">
            <a:avLst/>
          </a:prstGeom>
          <a:solidFill>
            <a:srgbClr val="0B2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⚙️ TECH STACK</a:t>
            </a:r>
          </a:p>
          <a:p>
            <a:pPr algn="ctr">
              <a:defRPr sz="850">
                <a:solidFill>
                  <a:srgbClr val="BED7FA"/>
                </a:solidFill>
                <a:latin typeface="Arial"/>
              </a:defRPr>
            </a:pPr>
            <a:r>
              <a:t>Modern | Secure | Scalable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57400" y="749808"/>
            <a:ext cx="1572768" cy="1243584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C8D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130552" y="822960"/>
            <a:ext cx="1426464" cy="25603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12264" y="1097280"/>
            <a:ext cx="1463040" cy="859536"/>
          </a:xfrm>
          <a:prstGeom prst="rect">
            <a:avLst/>
          </a:prstGeom>
          <a:noFill/>
        </p:spPr>
        <p:txBody>
          <a:bodyPr wrap="square" tIns="18288" lIns="36576" rIns="36576" bIns="18288">
            <a:spAutoFit/>
          </a:bodyPr>
          <a:lstStyle/>
          <a:p>
            <a:pPr>
              <a:spcAft>
                <a:spcPts val="150"/>
              </a:spcAft>
              <a:defRPr sz="800">
                <a:solidFill>
                  <a:srgbClr val="141923"/>
                </a:solidFill>
                <a:latin typeface="Arial"/>
              </a:defRPr>
            </a:pPr>
            <a:r>
              <a:t>• React.js</a:t>
            </a:r>
          </a:p>
          <a:p>
            <a:pPr>
              <a:spcAft>
                <a:spcPts val="150"/>
              </a:spcAft>
              <a:defRPr sz="800">
                <a:solidFill>
                  <a:srgbClr val="141923"/>
                </a:solidFill>
                <a:latin typeface="Arial"/>
              </a:defRPr>
            </a:pPr>
            <a:r>
              <a:t>• Vite</a:t>
            </a:r>
          </a:p>
          <a:p>
            <a:pPr>
              <a:spcAft>
                <a:spcPts val="150"/>
              </a:spcAft>
              <a:defRPr sz="800">
                <a:solidFill>
                  <a:srgbClr val="141923"/>
                </a:solidFill>
                <a:latin typeface="Arial"/>
              </a:defRPr>
            </a:pPr>
            <a:r>
              <a:t>• Tailwind CSS</a:t>
            </a:r>
          </a:p>
          <a:p>
            <a:pPr>
              <a:spcAft>
                <a:spcPts val="150"/>
              </a:spcAft>
              <a:defRPr sz="800">
                <a:solidFill>
                  <a:srgbClr val="141923"/>
                </a:solidFill>
                <a:latin typeface="Arial"/>
              </a:defRPr>
            </a:pPr>
            <a:r>
              <a:t>• TypeScript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12464" y="749808"/>
            <a:ext cx="1572768" cy="1243584"/>
          </a:xfrm>
          <a:prstGeom prst="roundRect">
            <a:avLst/>
          </a:prstGeom>
          <a:solidFill>
            <a:srgbClr val="F5F0FF"/>
          </a:solidFill>
          <a:ln w="12700">
            <a:solidFill>
              <a:srgbClr val="E1D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85616" y="822960"/>
            <a:ext cx="1426464" cy="256032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Web3 Integration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67328" y="1097280"/>
            <a:ext cx="1463040" cy="859536"/>
          </a:xfrm>
          <a:prstGeom prst="rect">
            <a:avLst/>
          </a:prstGeom>
          <a:noFill/>
        </p:spPr>
        <p:txBody>
          <a:bodyPr wrap="square" tIns="18288" lIns="36576" rIns="36576" bIns="18288">
            <a:spAutoFit/>
          </a:bodyPr>
          <a:lstStyle/>
          <a:p>
            <a:pPr>
              <a:spcAft>
                <a:spcPts val="150"/>
              </a:spcAft>
              <a:defRPr sz="800">
                <a:solidFill>
                  <a:srgbClr val="141923"/>
                </a:solidFill>
                <a:latin typeface="Arial"/>
              </a:defRPr>
            </a:pPr>
            <a:r>
              <a:t>• Wagmi v2</a:t>
            </a:r>
          </a:p>
          <a:p>
            <a:pPr>
              <a:spcAft>
                <a:spcPts val="150"/>
              </a:spcAft>
              <a:defRPr sz="800">
                <a:solidFill>
                  <a:srgbClr val="141923"/>
                </a:solidFill>
                <a:latin typeface="Arial"/>
              </a:defRPr>
            </a:pPr>
            <a:r>
              <a:t>• Viem</a:t>
            </a:r>
          </a:p>
          <a:p>
            <a:pPr>
              <a:spcAft>
                <a:spcPts val="150"/>
              </a:spcAft>
              <a:defRPr sz="800">
                <a:solidFill>
                  <a:srgbClr val="141923"/>
                </a:solidFill>
                <a:latin typeface="Arial"/>
              </a:defRPr>
            </a:pPr>
            <a:r>
              <a:t>• MetaMask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67528" y="749808"/>
            <a:ext cx="1572768" cy="1243584"/>
          </a:xfrm>
          <a:prstGeom prst="roundRect">
            <a:avLst/>
          </a:prstGeom>
          <a:solidFill>
            <a:srgbClr val="EBFAF2"/>
          </a:solidFill>
          <a:ln w="12700">
            <a:solidFill>
              <a:srgbClr val="C3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40680" y="822960"/>
            <a:ext cx="1426464" cy="25603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Smart Contracts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22392" y="1097280"/>
            <a:ext cx="1463040" cy="859536"/>
          </a:xfrm>
          <a:prstGeom prst="rect">
            <a:avLst/>
          </a:prstGeom>
          <a:noFill/>
        </p:spPr>
        <p:txBody>
          <a:bodyPr wrap="square" tIns="18288" lIns="36576" rIns="36576" bIns="18288">
            <a:spAutoFit/>
          </a:bodyPr>
          <a:lstStyle/>
          <a:p>
            <a:pPr>
              <a:spcAft>
                <a:spcPts val="150"/>
              </a:spcAft>
              <a:defRPr sz="800">
                <a:solidFill>
                  <a:srgbClr val="141923"/>
                </a:solidFill>
                <a:latin typeface="Arial"/>
              </a:defRPr>
            </a:pPr>
            <a:r>
              <a:t>• Solidity ^0.8.20</a:t>
            </a:r>
          </a:p>
          <a:p>
            <a:pPr>
              <a:spcAft>
                <a:spcPts val="150"/>
              </a:spcAft>
              <a:defRPr sz="800">
                <a:solidFill>
                  <a:srgbClr val="141923"/>
                </a:solidFill>
                <a:latin typeface="Arial"/>
              </a:defRPr>
            </a:pPr>
            <a:r>
              <a:t>• OpenZeppelin</a:t>
            </a:r>
          </a:p>
          <a:p>
            <a:pPr>
              <a:spcAft>
                <a:spcPts val="150"/>
              </a:spcAft>
              <a:defRPr sz="800">
                <a:solidFill>
                  <a:srgbClr val="141923"/>
                </a:solidFill>
                <a:latin typeface="Arial"/>
              </a:defRPr>
            </a:pPr>
            <a:r>
              <a:t>• Foundry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22592" y="749808"/>
            <a:ext cx="1572768" cy="1243584"/>
          </a:xfrm>
          <a:prstGeom prst="roundRect">
            <a:avLst/>
          </a:prstGeom>
          <a:solidFill>
            <a:srgbClr val="FFF9E8"/>
          </a:solidFill>
          <a:ln w="12700">
            <a:solidFill>
              <a:srgbClr val="FAEB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095744" y="822960"/>
            <a:ext cx="1426464" cy="256032"/>
          </a:xfrm>
          <a:prstGeom prst="round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Blockchain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77456" y="1097280"/>
            <a:ext cx="1463040" cy="859536"/>
          </a:xfrm>
          <a:prstGeom prst="rect">
            <a:avLst/>
          </a:prstGeom>
          <a:noFill/>
        </p:spPr>
        <p:txBody>
          <a:bodyPr wrap="square" tIns="18288" lIns="36576" rIns="36576" bIns="18288">
            <a:spAutoFit/>
          </a:bodyPr>
          <a:lstStyle/>
          <a:p>
            <a:pPr>
              <a:spcAft>
                <a:spcPts val="150"/>
              </a:spcAft>
              <a:defRPr sz="800">
                <a:solidFill>
                  <a:srgbClr val="141923"/>
                </a:solidFill>
                <a:latin typeface="Arial"/>
              </a:defRPr>
            </a:pPr>
            <a:r>
              <a:t>• Sepolia (Proto)</a:t>
            </a:r>
          </a:p>
          <a:p>
            <a:pPr>
              <a:spcAft>
                <a:spcPts val="150"/>
              </a:spcAft>
              <a:defRPr sz="800">
                <a:solidFill>
                  <a:srgbClr val="141923"/>
                </a:solidFill>
                <a:latin typeface="Arial"/>
              </a:defRPr>
            </a:pPr>
            <a:r>
              <a:t>• Permissioned EVM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77656" y="749808"/>
            <a:ext cx="1572768" cy="1243584"/>
          </a:xfrm>
          <a:prstGeom prst="roundRect">
            <a:avLst/>
          </a:prstGeom>
          <a:solidFill>
            <a:srgbClr val="FFF1F1"/>
          </a:solidFill>
          <a:ln w="12700">
            <a:solidFill>
              <a:srgbClr val="FA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750808" y="822960"/>
            <a:ext cx="1426464" cy="256032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Storage &amp; Backend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32520" y="1097280"/>
            <a:ext cx="1463040" cy="859536"/>
          </a:xfrm>
          <a:prstGeom prst="rect">
            <a:avLst/>
          </a:prstGeom>
          <a:noFill/>
        </p:spPr>
        <p:txBody>
          <a:bodyPr wrap="square" tIns="18288" lIns="36576" rIns="36576" bIns="18288">
            <a:spAutoFit/>
          </a:bodyPr>
          <a:lstStyle/>
          <a:p>
            <a:pPr>
              <a:spcAft>
                <a:spcPts val="150"/>
              </a:spcAft>
              <a:defRPr sz="800">
                <a:solidFill>
                  <a:srgbClr val="141923"/>
                </a:solidFill>
                <a:latin typeface="Arial"/>
              </a:defRPr>
            </a:pPr>
            <a:r>
              <a:t>• IPFS &amp; Pinata</a:t>
            </a:r>
          </a:p>
          <a:p>
            <a:pPr>
              <a:spcAft>
                <a:spcPts val="150"/>
              </a:spcAft>
              <a:defRPr sz="800">
                <a:solidFill>
                  <a:srgbClr val="141923"/>
                </a:solidFill>
                <a:latin typeface="Arial"/>
              </a:defRPr>
            </a:pPr>
            <a:r>
              <a:t>• PostgreSQL</a:t>
            </a:r>
          </a:p>
          <a:p>
            <a:pPr>
              <a:spcAft>
                <a:spcPts val="150"/>
              </a:spcAft>
              <a:defRPr sz="800">
                <a:solidFill>
                  <a:srgbClr val="141923"/>
                </a:solidFill>
                <a:latin typeface="Arial"/>
              </a:defRPr>
            </a:pPr>
            <a:r>
              <a:t>• FastAPI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332720" y="749808"/>
            <a:ext cx="1572768" cy="1243584"/>
          </a:xfrm>
          <a:prstGeom prst="roundRect">
            <a:avLst/>
          </a:prstGeom>
          <a:solidFill>
            <a:srgbClr val="EEF9FF"/>
          </a:solidFill>
          <a:ln w="12700">
            <a:solidFill>
              <a:srgbClr val="C3E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05872" y="822960"/>
            <a:ext cx="1426464" cy="256032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Security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87584" y="1097280"/>
            <a:ext cx="1463040" cy="859536"/>
          </a:xfrm>
          <a:prstGeom prst="rect">
            <a:avLst/>
          </a:prstGeom>
          <a:noFill/>
        </p:spPr>
        <p:txBody>
          <a:bodyPr wrap="square" tIns="18288" lIns="36576" rIns="36576" bIns="18288">
            <a:spAutoFit/>
          </a:bodyPr>
          <a:lstStyle/>
          <a:p>
            <a:pPr>
              <a:spcAft>
                <a:spcPts val="150"/>
              </a:spcAft>
              <a:defRPr sz="800">
                <a:solidFill>
                  <a:srgbClr val="141923"/>
                </a:solidFill>
                <a:latin typeface="Arial"/>
              </a:defRPr>
            </a:pPr>
            <a:r>
              <a:t>• AES-256-GCM</a:t>
            </a:r>
          </a:p>
          <a:p>
            <a:pPr>
              <a:spcAft>
                <a:spcPts val="150"/>
              </a:spcAft>
              <a:defRPr sz="800">
                <a:solidFill>
                  <a:srgbClr val="141923"/>
                </a:solidFill>
                <a:latin typeface="Arial"/>
              </a:defRPr>
            </a:pPr>
            <a:r>
              <a:t>• Keccak-256</a:t>
            </a:r>
          </a:p>
          <a:p>
            <a:pPr>
              <a:spcAft>
                <a:spcPts val="150"/>
              </a:spcAft>
              <a:defRPr sz="800">
                <a:solidFill>
                  <a:srgbClr val="141923"/>
                </a:solidFill>
                <a:latin typeface="Arial"/>
              </a:defRPr>
            </a:pPr>
            <a:r>
              <a:t>• Cryptographic Sigs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2066543"/>
            <a:ext cx="1600200" cy="2395728"/>
          </a:xfrm>
          <a:prstGeom prst="roundRect">
            <a:avLst/>
          </a:prstGeom>
          <a:solidFill>
            <a:srgbClr val="0B2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50" b="1">
                <a:solidFill>
                  <a:srgbClr val="FFFFFF"/>
                </a:solidFill>
                <a:latin typeface="Arial"/>
              </a:defRPr>
            </a:pPr>
            <a:r>
              <a:t>🏛️ SYSTEM</a:t>
            </a:r>
            <a:br/>
            <a:r>
              <a:t>ARCHITECTURE</a:t>
            </a:r>
          </a:p>
          <a:p>
            <a:br/>
            <a:pPr algn="ctr">
              <a:defRPr sz="850">
                <a:solidFill>
                  <a:srgbClr val="BED7FA"/>
                </a:solidFill>
                <a:latin typeface="Arial"/>
              </a:defRPr>
            </a:pPr>
            <a:r>
              <a:t>Decentralized</a:t>
            </a:r>
            <a:br/>
            <a:r>
              <a:t>Modular</a:t>
            </a:r>
            <a:br/>
            <a:r>
              <a:t>Interoperable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057400" y="2066543"/>
            <a:ext cx="1051560" cy="2395728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0B2F64"/>
                </a:solidFill>
                <a:latin typeface="Arial"/>
              </a:defRPr>
            </a:pPr>
            <a:r>
              <a:t>👥 Users / Orgs</a:t>
            </a:r>
          </a:p>
          <a:p>
            <a:pPr>
              <a:spcAft>
                <a:spcPts val="200"/>
              </a:spcAft>
              <a:defRPr sz="800">
                <a:solidFill>
                  <a:srgbClr val="505A69"/>
                </a:solidFill>
                <a:latin typeface="Arial"/>
              </a:defRPr>
            </a:pPr>
            <a:r>
              <a:t>• Admin</a:t>
            </a:r>
          </a:p>
          <a:p>
            <a:pPr>
              <a:spcAft>
                <a:spcPts val="200"/>
              </a:spcAft>
              <a:defRPr sz="800">
                <a:solidFill>
                  <a:srgbClr val="505A69"/>
                </a:solidFill>
                <a:latin typeface="Arial"/>
              </a:defRPr>
            </a:pPr>
            <a:r>
              <a:t>• Manager</a:t>
            </a:r>
          </a:p>
          <a:p>
            <a:pPr>
              <a:spcAft>
                <a:spcPts val="200"/>
              </a:spcAft>
              <a:defRPr sz="800">
                <a:solidFill>
                  <a:srgbClr val="505A69"/>
                </a:solidFill>
                <a:latin typeface="Arial"/>
              </a:defRPr>
            </a:pPr>
            <a:r>
              <a:t>• Auditor</a:t>
            </a:r>
          </a:p>
          <a:p>
            <a:pPr>
              <a:spcAft>
                <a:spcPts val="200"/>
              </a:spcAft>
              <a:defRPr sz="800">
                <a:solidFill>
                  <a:srgbClr val="505A69"/>
                </a:solidFill>
                <a:latin typeface="Arial"/>
              </a:defRPr>
            </a:pPr>
            <a:r>
              <a:t>• User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3136392" y="3118103"/>
            <a:ext cx="164592" cy="228600"/>
          </a:xfrm>
          <a:prstGeom prst="rightArrow">
            <a:avLst/>
          </a:prstGeom>
          <a:solidFill>
            <a:srgbClr val="00A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328416" y="2066543"/>
            <a:ext cx="10972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0B2F64"/>
                </a:solidFill>
                <a:latin typeface="Arial"/>
              </a:defRPr>
            </a:pPr>
            <a:r>
              <a:t>💻 Frontend</a:t>
            </a:r>
          </a:p>
          <a:p>
            <a:pPr algn="ctr">
              <a:defRPr sz="750">
                <a:solidFill>
                  <a:srgbClr val="505A69"/>
                </a:solidFill>
                <a:latin typeface="Arial"/>
              </a:defRPr>
            </a:pPr>
            <a:r>
              <a:t>React + Vite</a:t>
            </a:r>
            <a:br/>
            <a:r>
              <a:t>Tailwind CSS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28416" y="3282695"/>
            <a:ext cx="1097280" cy="1179576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0B2F64"/>
                </a:solidFill>
                <a:latin typeface="Arial"/>
              </a:defRPr>
            </a:pPr>
            <a:r>
              <a:t>⚡ Backend</a:t>
            </a:r>
          </a:p>
          <a:p>
            <a:pPr algn="ctr">
              <a:defRPr sz="750">
                <a:solidFill>
                  <a:srgbClr val="505A69"/>
                </a:solidFill>
                <a:latin typeface="Arial"/>
              </a:defRPr>
            </a:pPr>
            <a:r>
              <a:t>FastAPI (APIs)</a:t>
            </a:r>
            <a:br/>
            <a:r>
              <a:t>PostgreSQL</a:t>
            </a:r>
            <a:br/>
            <a:r>
              <a:t>Auth &amp; Cache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4453128" y="3118103"/>
            <a:ext cx="164592" cy="228600"/>
          </a:xfrm>
          <a:prstGeom prst="rightArrow">
            <a:avLst/>
          </a:prstGeom>
          <a:solidFill>
            <a:srgbClr val="00A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645152" y="2066543"/>
            <a:ext cx="2121408" cy="2395728"/>
          </a:xfrm>
          <a:prstGeom prst="roundRect">
            <a:avLst/>
          </a:prstGeom>
          <a:solidFill>
            <a:srgbClr val="F8FAFE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81728" y="2103119"/>
            <a:ext cx="2048256" cy="438912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defRPr sz="850" b="1">
                <a:solidFill>
                  <a:srgbClr val="0B2F64"/>
                </a:solidFill>
                <a:latin typeface="Arial"/>
              </a:defRPr>
            </a:pPr>
            <a:r>
              <a:t>⛓️ Blockchain (EVM)</a:t>
            </a:r>
          </a:p>
          <a:p>
            <a:pPr algn="ctr">
              <a:defRPr sz="750">
                <a:solidFill>
                  <a:srgbClr val="505A69"/>
                </a:solidFill>
                <a:latin typeface="Arial"/>
              </a:defRPr>
            </a:pPr>
            <a:r>
              <a:t>Smart Contracts (Six Modules)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18304" y="2578607"/>
            <a:ext cx="950976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/>
          <a:lstStyle/>
          <a:p>
            <a:pPr algn="ctr">
              <a:defRPr sz="700" b="1">
                <a:solidFill>
                  <a:srgbClr val="0EA5E9"/>
                </a:solidFill>
                <a:latin typeface="Arial"/>
              </a:defRPr>
            </a:pPr>
            <a:r>
              <a:t>IdentityRegistry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742432" y="2578607"/>
            <a:ext cx="950976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/>
          <a:lstStyle/>
          <a:p>
            <a:pPr algn="ctr">
              <a:defRPr sz="700" b="1">
                <a:solidFill>
                  <a:srgbClr val="7C3AED"/>
                </a:solidFill>
                <a:latin typeface="Arial"/>
              </a:defRPr>
            </a:pPr>
            <a:r>
              <a:t>RolesAndPerms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718304" y="3072383"/>
            <a:ext cx="950976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/>
          <a:lstStyle/>
          <a:p>
            <a:pPr algn="ctr">
              <a:defRPr sz="700" b="1">
                <a:solidFill>
                  <a:srgbClr val="16A34A"/>
                </a:solidFill>
                <a:latin typeface="Arial"/>
              </a:defRPr>
            </a:pPr>
            <a:r>
              <a:t>AssetNFT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742432" y="3072383"/>
            <a:ext cx="950976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/>
          <a:lstStyle/>
          <a:p>
            <a:pPr algn="ctr">
              <a:defRPr sz="700" b="1">
                <a:solidFill>
                  <a:srgbClr val="D97706"/>
                </a:solidFill>
                <a:latin typeface="Arial"/>
              </a:defRPr>
            </a:pPr>
            <a:r>
              <a:t>CredentialVault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718304" y="3566159"/>
            <a:ext cx="950976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/>
          <a:lstStyle/>
          <a:p>
            <a:pPr algn="ctr">
              <a:defRPr sz="700" b="1">
                <a:solidFill>
                  <a:srgbClr val="DB2777"/>
                </a:solidFill>
                <a:latin typeface="Arial"/>
              </a:defRPr>
            </a:pPr>
            <a:r>
              <a:t>AssetBridge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742432" y="3566159"/>
            <a:ext cx="950976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/>
          <a:lstStyle/>
          <a:p>
            <a:pPr algn="ctr">
              <a:defRPr sz="700" b="1">
                <a:solidFill>
                  <a:srgbClr val="4F46E5"/>
                </a:solidFill>
                <a:latin typeface="Arial"/>
              </a:defRPr>
            </a:pPr>
            <a:r>
              <a:t>AuditLog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700016" y="4151374"/>
            <a:ext cx="2011680" cy="237744"/>
          </a:xfrm>
          <a:prstGeom prst="roundRect">
            <a:avLst/>
          </a:prstGeom>
          <a:solidFill>
            <a:srgbClr val="DCE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680" b="1">
                <a:solidFill>
                  <a:srgbClr val="0B2F64"/>
                </a:solidFill>
                <a:latin typeface="Arial"/>
              </a:defRPr>
            </a:pPr>
            <a:r>
              <a:t>Sepolia Proto | Permissioned EVM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6793992" y="3118103"/>
            <a:ext cx="164592" cy="228600"/>
          </a:xfrm>
          <a:prstGeom prst="rightArrow">
            <a:avLst/>
          </a:prstGeom>
          <a:solidFill>
            <a:srgbClr val="00A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986016" y="2066543"/>
            <a:ext cx="960120" cy="2395728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0B2F64"/>
                </a:solidFill>
                <a:latin typeface="Arial"/>
              </a:defRPr>
            </a:pPr>
            <a:r>
              <a:t>📦 Storage</a:t>
            </a:r>
          </a:p>
          <a:p>
            <a:br/>
            <a:pPr algn="ctr">
              <a:defRPr sz="750">
                <a:solidFill>
                  <a:srgbClr val="505A69"/>
                </a:solidFill>
                <a:latin typeface="Arial"/>
              </a:defRPr>
            </a:pPr>
            <a:r>
              <a:t>IPFS +</a:t>
            </a:r>
            <a:br/>
            <a:r>
              <a:t>Pinata</a:t>
            </a:r>
            <a:br/>
            <a:br/>
            <a:r>
              <a:t>Encrypted</a:t>
            </a:r>
            <a:br/>
            <a:r>
              <a:t>Off-Chain</a:t>
            </a:r>
            <a:br/>
            <a:r>
              <a:t>Payloads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46720" y="2066543"/>
            <a:ext cx="3776472" cy="310896"/>
          </a:xfrm>
          <a:prstGeom prst="roundRect">
            <a:avLst/>
          </a:prstGeom>
          <a:solidFill>
            <a:srgbClr val="0B2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⚡ IMPLEMENTATION METHODOLOGY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46720" y="2414015"/>
            <a:ext cx="3776472" cy="2697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8092440" y="2450591"/>
            <a:ext cx="201168" cy="192024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39327" y="2414015"/>
            <a:ext cx="3456432" cy="269748"/>
          </a:xfrm>
          <a:prstGeom prst="rect">
            <a:avLst/>
          </a:prstGeom>
          <a:noFill/>
        </p:spPr>
        <p:txBody>
          <a:bodyPr wrap="square" anchor="ctr" tIns="9144" bIns="9144" lIns="18288">
            <a:spAutoFit/>
          </a:bodyPr>
          <a:lstStyle/>
          <a:p>
            <a:pPr>
              <a:defRPr sz="750" b="1">
                <a:solidFill>
                  <a:srgbClr val="141923"/>
                </a:solidFill>
                <a:latin typeface="Arial"/>
              </a:defRPr>
            </a:pPr>
            <a:r>
              <a:t>Identity Setup: </a:t>
            </a:r>
            <a:r>
              <a:rPr sz="700" b="0">
                <a:solidFill>
                  <a:srgbClr val="505A69"/>
                </a:solidFill>
                <a:latin typeface="Arial"/>
              </a:rPr>
              <a:t>User/Org creates blockchain-linked identity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046720" y="2706623"/>
            <a:ext cx="3776472" cy="2697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8092440" y="2743199"/>
            <a:ext cx="201168" cy="192024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39327" y="2706623"/>
            <a:ext cx="3456432" cy="269748"/>
          </a:xfrm>
          <a:prstGeom prst="rect">
            <a:avLst/>
          </a:prstGeom>
          <a:noFill/>
        </p:spPr>
        <p:txBody>
          <a:bodyPr wrap="square" anchor="ctr" tIns="9144" bIns="9144" lIns="18288">
            <a:spAutoFit/>
          </a:bodyPr>
          <a:lstStyle/>
          <a:p>
            <a:pPr>
              <a:defRPr sz="750" b="1">
                <a:solidFill>
                  <a:srgbClr val="141923"/>
                </a:solidFill>
                <a:latin typeface="Arial"/>
              </a:defRPr>
            </a:pPr>
            <a:r>
              <a:t>Role &amp; Permission: </a:t>
            </a:r>
            <a:r>
              <a:rPr sz="700" b="0">
                <a:solidFill>
                  <a:srgbClr val="505A69"/>
                </a:solidFill>
                <a:latin typeface="Arial"/>
              </a:rPr>
              <a:t>Assign roles (Admin | Manager | Auditor | User)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046720" y="2999231"/>
            <a:ext cx="3776472" cy="2697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8092440" y="3035807"/>
            <a:ext cx="201168" cy="192024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39327" y="2999231"/>
            <a:ext cx="3456432" cy="269748"/>
          </a:xfrm>
          <a:prstGeom prst="rect">
            <a:avLst/>
          </a:prstGeom>
          <a:noFill/>
        </p:spPr>
        <p:txBody>
          <a:bodyPr wrap="square" anchor="ctr" tIns="9144" bIns="9144" lIns="18288">
            <a:spAutoFit/>
          </a:bodyPr>
          <a:lstStyle/>
          <a:p>
            <a:pPr>
              <a:defRPr sz="750" b="1">
                <a:solidFill>
                  <a:srgbClr val="141923"/>
                </a:solidFill>
                <a:latin typeface="Arial"/>
              </a:defRPr>
            </a:pPr>
            <a:r>
              <a:t>Asset Registration: </a:t>
            </a:r>
            <a:r>
              <a:rPr sz="700" b="0">
                <a:solidFill>
                  <a:srgbClr val="505A69"/>
                </a:solidFill>
                <a:latin typeface="Arial"/>
              </a:rPr>
              <a:t>Register digital/physical assets (docs, devices)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046720" y="3291839"/>
            <a:ext cx="3776472" cy="2697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8092440" y="3328415"/>
            <a:ext cx="201168" cy="192024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39327" y="3291839"/>
            <a:ext cx="3456432" cy="269748"/>
          </a:xfrm>
          <a:prstGeom prst="rect">
            <a:avLst/>
          </a:prstGeom>
          <a:noFill/>
        </p:spPr>
        <p:txBody>
          <a:bodyPr wrap="square" anchor="ctr" tIns="9144" bIns="9144" lIns="18288">
            <a:spAutoFit/>
          </a:bodyPr>
          <a:lstStyle/>
          <a:p>
            <a:pPr>
              <a:defRPr sz="750" b="1">
                <a:solidFill>
                  <a:srgbClr val="141923"/>
                </a:solidFill>
                <a:latin typeface="Arial"/>
              </a:defRPr>
            </a:pPr>
            <a:r>
              <a:t>NFT Minting / Linking: </a:t>
            </a:r>
            <a:r>
              <a:rPr sz="700" b="0">
                <a:solidFill>
                  <a:srgbClr val="505A69"/>
                </a:solidFill>
                <a:latin typeface="Arial"/>
              </a:rPr>
              <a:t>Mint NFT for asset and link credentials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046720" y="3584447"/>
            <a:ext cx="3776472" cy="2697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8092440" y="3621023"/>
            <a:ext cx="201168" cy="192024"/>
          </a:xfrm>
          <a:prstGeom prst="round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39327" y="3584447"/>
            <a:ext cx="3456432" cy="269748"/>
          </a:xfrm>
          <a:prstGeom prst="rect">
            <a:avLst/>
          </a:prstGeom>
          <a:noFill/>
        </p:spPr>
        <p:txBody>
          <a:bodyPr wrap="square" anchor="ctr" tIns="9144" bIns="9144" lIns="18288">
            <a:spAutoFit/>
          </a:bodyPr>
          <a:lstStyle/>
          <a:p>
            <a:pPr>
              <a:defRPr sz="750" b="1">
                <a:solidFill>
                  <a:srgbClr val="141923"/>
                </a:solidFill>
                <a:latin typeface="Arial"/>
              </a:defRPr>
            </a:pPr>
            <a:r>
              <a:t>Assign / Transfer: </a:t>
            </a:r>
            <a:r>
              <a:rPr sz="700" b="0">
                <a:solidFill>
                  <a:srgbClr val="505A69"/>
                </a:solidFill>
                <a:latin typeface="Arial"/>
              </a:rPr>
              <a:t>Secure assignment and ownership transfer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046720" y="3877055"/>
            <a:ext cx="3776472" cy="2697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8092440" y="3913631"/>
            <a:ext cx="201168" cy="192024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39327" y="3877055"/>
            <a:ext cx="3456432" cy="269748"/>
          </a:xfrm>
          <a:prstGeom prst="rect">
            <a:avLst/>
          </a:prstGeom>
          <a:noFill/>
        </p:spPr>
        <p:txBody>
          <a:bodyPr wrap="square" anchor="ctr" tIns="9144" bIns="9144" lIns="18288">
            <a:spAutoFit/>
          </a:bodyPr>
          <a:lstStyle/>
          <a:p>
            <a:pPr>
              <a:defRPr sz="750" b="1">
                <a:solidFill>
                  <a:srgbClr val="141923"/>
                </a:solidFill>
                <a:latin typeface="Arial"/>
              </a:defRPr>
            </a:pPr>
            <a:r>
              <a:t>Blockchain Audit: </a:t>
            </a:r>
            <a:r>
              <a:rPr sz="700" b="0">
                <a:solidFill>
                  <a:srgbClr val="505A69"/>
                </a:solidFill>
                <a:latin typeface="Arial"/>
              </a:rPr>
              <a:t>All actions recorded immutably on-chain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046720" y="4169663"/>
            <a:ext cx="3776472" cy="2697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8092440" y="4206239"/>
            <a:ext cx="201168" cy="19202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39327" y="4169663"/>
            <a:ext cx="3456432" cy="269748"/>
          </a:xfrm>
          <a:prstGeom prst="rect">
            <a:avLst/>
          </a:prstGeom>
          <a:noFill/>
        </p:spPr>
        <p:txBody>
          <a:bodyPr wrap="square" anchor="ctr" tIns="9144" bIns="9144" lIns="18288">
            <a:spAutoFit/>
          </a:bodyPr>
          <a:lstStyle/>
          <a:p>
            <a:pPr>
              <a:defRPr sz="750" b="1">
                <a:solidFill>
                  <a:srgbClr val="141923"/>
                </a:solidFill>
                <a:latin typeface="Arial"/>
              </a:defRPr>
            </a:pPr>
            <a:r>
              <a:t>Verification: </a:t>
            </a:r>
            <a:r>
              <a:rPr sz="700" b="0">
                <a:solidFill>
                  <a:srgbClr val="505A69"/>
                </a:solidFill>
                <a:latin typeface="Arial"/>
              </a:rPr>
              <a:t>Independent &amp; real-time verification by authorized parties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365760" y="4535424"/>
            <a:ext cx="1600200" cy="1883664"/>
          </a:xfrm>
          <a:prstGeom prst="roundRect">
            <a:avLst/>
          </a:prstGeom>
          <a:solidFill>
            <a:srgbClr val="0B2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🖥️ WORKING PROTOTYPE</a:t>
            </a:r>
          </a:p>
          <a:p>
            <a:pPr algn="ctr">
              <a:defRPr sz="750">
                <a:solidFill>
                  <a:srgbClr val="BED7FA"/>
                </a:solidFill>
                <a:latin typeface="Arial"/>
              </a:defRPr>
            </a:pPr>
            <a:r>
              <a:t>Live Demo on Sepolia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21792" y="5193792"/>
            <a:ext cx="1078992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0B2F64"/>
                </a:solidFill>
                <a:latin typeface="Arial"/>
              </a:defRPr>
            </a:pPr>
            <a:r>
              <a:t>📱</a:t>
            </a:r>
            <a:br/>
            <a:r>
              <a:t>Scan QR</a:t>
            </a:r>
            <a:br/>
            <a:r>
              <a:t>Try Demo ↗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057400" y="4535424"/>
            <a:ext cx="2404872" cy="18836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2112264" y="4590288"/>
            <a:ext cx="2295144" cy="2743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/>
          <a:lstStyle/>
          <a:p>
            <a:pPr algn="ctr">
              <a:defRPr sz="850" b="1">
                <a:solidFill>
                  <a:srgbClr val="0B2F64"/>
                </a:solidFill>
                <a:latin typeface="Arial"/>
              </a:defRPr>
            </a:pPr>
            <a:r>
              <a:t>1. Dashboard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2112264" y="4901184"/>
            <a:ext cx="2295144" cy="1051560"/>
          </a:xfrm>
          <a:prstGeom prst="roundRect">
            <a:avLst/>
          </a:prstGeom>
          <a:solidFill>
            <a:srgbClr val="F8FAFE"/>
          </a:solidFill>
          <a:ln w="9525"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bIns="36576"/>
          <a:lstStyle/>
          <a:p>
            <a:pPr algn="ctr">
              <a:spcAft>
                <a:spcPts val="200"/>
              </a:spcAft>
              <a:defRPr sz="750" b="1">
                <a:solidFill>
                  <a:srgbClr val="00A0EB"/>
                </a:solidFill>
                <a:latin typeface="Arial"/>
              </a:defRPr>
            </a:pPr>
            <a:r>
              <a:t>[Live Overview]</a:t>
            </a:r>
          </a:p>
          <a:p>
            <a:pPr>
              <a:spcAft>
                <a:spcPts val="100"/>
              </a:spcAft>
              <a:defRPr sz="700">
                <a:solidFill>
                  <a:srgbClr val="141923"/>
                </a:solidFill>
                <a:latin typeface="Arial"/>
              </a:defRPr>
            </a:pPr>
            <a:r>
              <a:t>• 24 Verified Assets</a:t>
            </a:r>
          </a:p>
          <a:p>
            <a:pPr>
              <a:spcAft>
                <a:spcPts val="100"/>
              </a:spcAft>
              <a:defRPr sz="700">
                <a:solidFill>
                  <a:srgbClr val="141923"/>
                </a:solidFill>
                <a:latin typeface="Arial"/>
              </a:defRPr>
            </a:pPr>
            <a:r>
              <a:t>• 100% On-Chain Audit</a:t>
            </a:r>
          </a:p>
          <a:p>
            <a:pPr>
              <a:spcAft>
                <a:spcPts val="100"/>
              </a:spcAft>
              <a:defRPr sz="700">
                <a:solidFill>
                  <a:srgbClr val="141923"/>
                </a:solidFill>
                <a:latin typeface="Arial"/>
              </a:defRPr>
            </a:pPr>
            <a:r>
              <a:t>• Active Role: Admin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112264" y="5980176"/>
            <a:ext cx="2295144" cy="402336"/>
          </a:xfrm>
          <a:prstGeom prst="rect">
            <a:avLst/>
          </a:prstGeom>
          <a:noFill/>
        </p:spPr>
        <p:txBody>
          <a:bodyPr wrap="square" tIns="18288" lIns="36576" rIns="36576">
            <a:spAutoFit/>
          </a:bodyPr>
          <a:lstStyle/>
          <a:p>
            <a:pPr>
              <a:defRPr sz="700">
                <a:solidFill>
                  <a:srgbClr val="505A69"/>
                </a:solidFill>
                <a:latin typeface="Arial"/>
              </a:defRPr>
            </a:pPr>
            <a:r>
              <a:t>Overview of assets, credentials and activity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572000" y="4535424"/>
            <a:ext cx="2404872" cy="18836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4626864" y="4590288"/>
            <a:ext cx="2295144" cy="2743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/>
          <a:lstStyle/>
          <a:p>
            <a:pPr algn="ctr">
              <a:defRPr sz="850" b="1">
                <a:solidFill>
                  <a:srgbClr val="0B2F64"/>
                </a:solidFill>
                <a:latin typeface="Arial"/>
              </a:defRPr>
            </a:pPr>
            <a:r>
              <a:t>2. Asset Details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626864" y="4901184"/>
            <a:ext cx="2295144" cy="1051560"/>
          </a:xfrm>
          <a:prstGeom prst="roundRect">
            <a:avLst/>
          </a:prstGeom>
          <a:solidFill>
            <a:srgbClr val="F8FAFE"/>
          </a:solidFill>
          <a:ln w="9525"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bIns="36576"/>
          <a:lstStyle/>
          <a:p>
            <a:pPr algn="ctr">
              <a:spcAft>
                <a:spcPts val="200"/>
              </a:spcAft>
              <a:defRPr sz="750" b="1">
                <a:solidFill>
                  <a:srgbClr val="00A0EB"/>
                </a:solidFill>
                <a:latin typeface="Arial"/>
              </a:defRPr>
            </a:pPr>
            <a:r>
              <a:t>[NFT Token #1042]</a:t>
            </a:r>
          </a:p>
          <a:p>
            <a:pPr>
              <a:spcAft>
                <a:spcPts val="100"/>
              </a:spcAft>
              <a:defRPr sz="700">
                <a:solidFill>
                  <a:srgbClr val="141923"/>
                </a:solidFill>
                <a:latin typeface="Arial"/>
              </a:defRPr>
            </a:pPr>
            <a:r>
              <a:t>• Aaptap - Dell XPS 13</a:t>
            </a:r>
          </a:p>
          <a:p>
            <a:pPr>
              <a:spcAft>
                <a:spcPts val="100"/>
              </a:spcAft>
              <a:defRPr sz="700">
                <a:solidFill>
                  <a:srgbClr val="141923"/>
                </a:solidFill>
                <a:latin typeface="Arial"/>
              </a:defRPr>
            </a:pPr>
            <a:r>
              <a:t>• Owner: Finance Dept</a:t>
            </a:r>
          </a:p>
          <a:p>
            <a:pPr>
              <a:spcAft>
                <a:spcPts val="100"/>
              </a:spcAft>
              <a:defRPr sz="700">
                <a:solidFill>
                  <a:srgbClr val="141923"/>
                </a:solidFill>
                <a:latin typeface="Arial"/>
              </a:defRPr>
            </a:pPr>
            <a:r>
              <a:t>• Status: Minted &amp; Verified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626864" y="5980176"/>
            <a:ext cx="2295144" cy="402336"/>
          </a:xfrm>
          <a:prstGeom prst="rect">
            <a:avLst/>
          </a:prstGeom>
          <a:noFill/>
        </p:spPr>
        <p:txBody>
          <a:bodyPr wrap="square" tIns="18288" lIns="36576" rIns="36576">
            <a:spAutoFit/>
          </a:bodyPr>
          <a:lstStyle/>
          <a:p>
            <a:pPr>
              <a:defRPr sz="700">
                <a:solidFill>
                  <a:srgbClr val="505A69"/>
                </a:solidFill>
                <a:latin typeface="Arial"/>
              </a:defRPr>
            </a:pPr>
            <a:r>
              <a:t>View NFT asset information &amp; metadata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086600" y="4535424"/>
            <a:ext cx="2404872" cy="18836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7141464" y="4590288"/>
            <a:ext cx="2295144" cy="2743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/>
          <a:lstStyle/>
          <a:p>
            <a:pPr algn="ctr">
              <a:defRPr sz="850" b="1">
                <a:solidFill>
                  <a:srgbClr val="0B2F64"/>
                </a:solidFill>
                <a:latin typeface="Arial"/>
              </a:defRPr>
            </a:pPr>
            <a:r>
              <a:t>3. Credential Verification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141464" y="4901184"/>
            <a:ext cx="2295144" cy="1051560"/>
          </a:xfrm>
          <a:prstGeom prst="roundRect">
            <a:avLst/>
          </a:prstGeom>
          <a:solidFill>
            <a:srgbClr val="F8FAFE"/>
          </a:solidFill>
          <a:ln w="9525"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bIns="36576"/>
          <a:lstStyle/>
          <a:p>
            <a:pPr algn="ctr">
              <a:spcAft>
                <a:spcPts val="200"/>
              </a:spcAft>
              <a:defRPr sz="750" b="1">
                <a:solidFill>
                  <a:srgbClr val="00A0EB"/>
                </a:solidFill>
                <a:latin typeface="Arial"/>
              </a:defRPr>
            </a:pPr>
            <a:r>
              <a:t>[Verification Engine]</a:t>
            </a:r>
          </a:p>
          <a:p>
            <a:pPr>
              <a:spcAft>
                <a:spcPts val="100"/>
              </a:spcAft>
              <a:defRPr sz="700">
                <a:solidFill>
                  <a:srgbClr val="141923"/>
                </a:solidFill>
                <a:latin typeface="Arial"/>
              </a:defRPr>
            </a:pPr>
            <a:r>
              <a:t>• Zero-Knowledge Proof</a:t>
            </a:r>
          </a:p>
          <a:p>
            <a:pPr>
              <a:spcAft>
                <a:spcPts val="100"/>
              </a:spcAft>
              <a:defRPr sz="700">
                <a:solidFill>
                  <a:srgbClr val="141923"/>
                </a:solidFill>
                <a:latin typeface="Arial"/>
              </a:defRPr>
            </a:pPr>
            <a:r>
              <a:t>• Keccak-256 Validated</a:t>
            </a:r>
          </a:p>
          <a:p>
            <a:pPr>
              <a:spcAft>
                <a:spcPts val="100"/>
              </a:spcAft>
              <a:defRPr sz="700">
                <a:solidFill>
                  <a:srgbClr val="141923"/>
                </a:solidFill>
                <a:latin typeface="Arial"/>
              </a:defRPr>
            </a:pPr>
            <a:r>
              <a:t>• Status: 100% Authentic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141464" y="5980176"/>
            <a:ext cx="2295144" cy="402336"/>
          </a:xfrm>
          <a:prstGeom prst="rect">
            <a:avLst/>
          </a:prstGeom>
          <a:noFill/>
        </p:spPr>
        <p:txBody>
          <a:bodyPr wrap="square" tIns="18288" lIns="36576" rIns="36576">
            <a:spAutoFit/>
          </a:bodyPr>
          <a:lstStyle/>
          <a:p>
            <a:pPr>
              <a:defRPr sz="700">
                <a:solidFill>
                  <a:srgbClr val="505A69"/>
                </a:solidFill>
                <a:latin typeface="Arial"/>
              </a:defRPr>
            </a:pPr>
            <a:r>
              <a:t>Upload and verify certificates/documents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9601200" y="4535424"/>
            <a:ext cx="2404872" cy="18836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9656064" y="4590288"/>
            <a:ext cx="2295144" cy="2743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/>
          <a:lstStyle/>
          <a:p>
            <a:pPr algn="ctr">
              <a:defRPr sz="850" b="1">
                <a:solidFill>
                  <a:srgbClr val="0B2F64"/>
                </a:solidFill>
                <a:latin typeface="Arial"/>
              </a:defRPr>
            </a:pPr>
            <a:r>
              <a:t>4. Blockchain Explorer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9656064" y="4901184"/>
            <a:ext cx="2295144" cy="1051560"/>
          </a:xfrm>
          <a:prstGeom prst="roundRect">
            <a:avLst/>
          </a:prstGeom>
          <a:solidFill>
            <a:srgbClr val="F8FAFE"/>
          </a:solidFill>
          <a:ln w="9525"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bIns="36576"/>
          <a:lstStyle/>
          <a:p>
            <a:pPr algn="ctr">
              <a:spcAft>
                <a:spcPts val="200"/>
              </a:spcAft>
              <a:defRPr sz="750" b="1">
                <a:solidFill>
                  <a:srgbClr val="00A0EB"/>
                </a:solidFill>
                <a:latin typeface="Arial"/>
              </a:defRPr>
            </a:pPr>
            <a:r>
              <a:t>[Sepolia Explorer]</a:t>
            </a:r>
          </a:p>
          <a:p>
            <a:pPr>
              <a:spcAft>
                <a:spcPts val="100"/>
              </a:spcAft>
              <a:defRPr sz="700">
                <a:solidFill>
                  <a:srgbClr val="141923"/>
                </a:solidFill>
                <a:latin typeface="Arial"/>
              </a:defRPr>
            </a:pPr>
            <a:r>
              <a:t>• Tx: 0x8f4b...39a1</a:t>
            </a:r>
          </a:p>
          <a:p>
            <a:pPr>
              <a:spcAft>
                <a:spcPts val="100"/>
              </a:spcAft>
              <a:defRPr sz="700">
                <a:solidFill>
                  <a:srgbClr val="141923"/>
                </a:solidFill>
                <a:latin typeface="Arial"/>
              </a:defRPr>
            </a:pPr>
            <a:r>
              <a:t>• Gas Used: 42,150</a:t>
            </a:r>
          </a:p>
          <a:p>
            <a:pPr>
              <a:spcAft>
                <a:spcPts val="100"/>
              </a:spcAft>
              <a:defRPr sz="700">
                <a:solidFill>
                  <a:srgbClr val="141923"/>
                </a:solidFill>
                <a:latin typeface="Arial"/>
              </a:defRPr>
            </a:pPr>
            <a:r>
              <a:t>• Confirmed in Block #4812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656064" y="5980176"/>
            <a:ext cx="2295144" cy="402336"/>
          </a:xfrm>
          <a:prstGeom prst="rect">
            <a:avLst/>
          </a:prstGeom>
          <a:noFill/>
        </p:spPr>
        <p:txBody>
          <a:bodyPr wrap="square" tIns="18288" lIns="36576" rIns="36576">
            <a:spAutoFit/>
          </a:bodyPr>
          <a:lstStyle/>
          <a:p>
            <a:pPr>
              <a:defRPr sz="700">
                <a:solidFill>
                  <a:srgbClr val="505A69"/>
                </a:solidFill>
                <a:latin typeface="Arial"/>
              </a:defRPr>
            </a:pPr>
            <a:r>
              <a:t>On-chain transaction &amp; hash logs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B2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57200" y="6528816"/>
            <a:ext cx="502920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850">
                <a:solidFill>
                  <a:srgbClr val="DCEBFF"/>
                </a:solidFill>
                <a:latin typeface="Arial"/>
              </a:defRPr>
            </a:pPr>
            <a:r>
              <a:t>Secure Identities | Transparent Assets | Trusted Tomorrow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572000" y="6528816"/>
            <a:ext cx="411480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#SIH2026  |  #SecureLedgerPlus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515600" y="6528816"/>
            <a:ext cx="118872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5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